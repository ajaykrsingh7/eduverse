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1" i="0" u="sng">
                <a:solidFill>
                  <a:srgbClr val="0049A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 u="sng">
                <a:solidFill>
                  <a:srgbClr val="0049A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 u="sng">
                <a:solidFill>
                  <a:srgbClr val="0049A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 u="sng">
                <a:solidFill>
                  <a:srgbClr val="0049A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8539" y="213436"/>
            <a:ext cx="6604634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1" i="0" u="sng">
                <a:solidFill>
                  <a:srgbClr val="0049A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69491" y="1731035"/>
            <a:ext cx="9628505" cy="3902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49571" y="54990"/>
            <a:ext cx="327850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2400" b="0">
                <a:latin typeface="Times New Roman"/>
                <a:cs typeface="Times New Roman"/>
              </a:rPr>
              <a:t>Major</a:t>
            </a:r>
            <a:r>
              <a:rPr dirty="0" u="none" sz="2400" spc="-20" b="0">
                <a:latin typeface="Times New Roman"/>
                <a:cs typeface="Times New Roman"/>
              </a:rPr>
              <a:t> </a:t>
            </a:r>
            <a:r>
              <a:rPr dirty="0" u="none" sz="2400" b="0">
                <a:latin typeface="Times New Roman"/>
                <a:cs typeface="Times New Roman"/>
              </a:rPr>
              <a:t>Project</a:t>
            </a:r>
            <a:r>
              <a:rPr dirty="0" u="none" sz="2400" spc="-40" b="0">
                <a:latin typeface="Times New Roman"/>
                <a:cs typeface="Times New Roman"/>
              </a:rPr>
              <a:t> </a:t>
            </a:r>
            <a:r>
              <a:rPr dirty="0" u="none" sz="2400" spc="-10" b="0">
                <a:latin typeface="Times New Roman"/>
                <a:cs typeface="Times New Roman"/>
              </a:rPr>
              <a:t>Presentation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53940" y="2343276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5">
                <a:moveTo>
                  <a:pt x="33400" y="0"/>
                </a:moveTo>
                <a:lnTo>
                  <a:pt x="25526" y="0"/>
                </a:lnTo>
                <a:lnTo>
                  <a:pt x="0" y="25526"/>
                </a:lnTo>
                <a:lnTo>
                  <a:pt x="0" y="33400"/>
                </a:lnTo>
                <a:lnTo>
                  <a:pt x="21717" y="58165"/>
                </a:lnTo>
                <a:lnTo>
                  <a:pt x="25526" y="58927"/>
                </a:lnTo>
                <a:lnTo>
                  <a:pt x="33400" y="58927"/>
                </a:lnTo>
                <a:lnTo>
                  <a:pt x="58928" y="33400"/>
                </a:lnTo>
                <a:lnTo>
                  <a:pt x="58928" y="29463"/>
                </a:lnTo>
                <a:lnTo>
                  <a:pt x="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53940" y="2772282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5">
                <a:moveTo>
                  <a:pt x="33400" y="0"/>
                </a:moveTo>
                <a:lnTo>
                  <a:pt x="25526" y="0"/>
                </a:lnTo>
                <a:lnTo>
                  <a:pt x="0" y="25653"/>
                </a:lnTo>
                <a:lnTo>
                  <a:pt x="0" y="33400"/>
                </a:lnTo>
                <a:lnTo>
                  <a:pt x="21717" y="58292"/>
                </a:lnTo>
                <a:lnTo>
                  <a:pt x="25526" y="59054"/>
                </a:lnTo>
                <a:lnTo>
                  <a:pt x="33400" y="59054"/>
                </a:lnTo>
                <a:lnTo>
                  <a:pt x="58928" y="33400"/>
                </a:lnTo>
                <a:lnTo>
                  <a:pt x="58928" y="29590"/>
                </a:lnTo>
                <a:lnTo>
                  <a:pt x="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59528" y="3201416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4">
                <a:moveTo>
                  <a:pt x="33400" y="0"/>
                </a:moveTo>
                <a:lnTo>
                  <a:pt x="25654" y="0"/>
                </a:lnTo>
                <a:lnTo>
                  <a:pt x="0" y="25526"/>
                </a:lnTo>
                <a:lnTo>
                  <a:pt x="0" y="33400"/>
                </a:lnTo>
                <a:lnTo>
                  <a:pt x="21844" y="58166"/>
                </a:lnTo>
                <a:lnTo>
                  <a:pt x="25654" y="58928"/>
                </a:lnTo>
                <a:lnTo>
                  <a:pt x="33400" y="58928"/>
                </a:lnTo>
                <a:lnTo>
                  <a:pt x="58928" y="33400"/>
                </a:lnTo>
                <a:lnTo>
                  <a:pt x="58928" y="29463"/>
                </a:lnTo>
                <a:lnTo>
                  <a:pt x="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53940" y="3630548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4">
                <a:moveTo>
                  <a:pt x="33400" y="0"/>
                </a:moveTo>
                <a:lnTo>
                  <a:pt x="25526" y="0"/>
                </a:lnTo>
                <a:lnTo>
                  <a:pt x="0" y="25526"/>
                </a:lnTo>
                <a:lnTo>
                  <a:pt x="0" y="33274"/>
                </a:lnTo>
                <a:lnTo>
                  <a:pt x="21717" y="58165"/>
                </a:lnTo>
                <a:lnTo>
                  <a:pt x="25526" y="58927"/>
                </a:lnTo>
                <a:lnTo>
                  <a:pt x="33400" y="58927"/>
                </a:lnTo>
                <a:lnTo>
                  <a:pt x="58928" y="33274"/>
                </a:lnTo>
                <a:lnTo>
                  <a:pt x="58928" y="29463"/>
                </a:lnTo>
                <a:lnTo>
                  <a:pt x="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59528" y="4059554"/>
            <a:ext cx="59055" cy="59055"/>
          </a:xfrm>
          <a:custGeom>
            <a:avLst/>
            <a:gdLst/>
            <a:ahLst/>
            <a:cxnLst/>
            <a:rect l="l" t="t" r="r" b="b"/>
            <a:pathLst>
              <a:path w="59054" h="59054">
                <a:moveTo>
                  <a:pt x="33400" y="0"/>
                </a:moveTo>
                <a:lnTo>
                  <a:pt x="25654" y="0"/>
                </a:lnTo>
                <a:lnTo>
                  <a:pt x="0" y="25527"/>
                </a:lnTo>
                <a:lnTo>
                  <a:pt x="0" y="33401"/>
                </a:lnTo>
                <a:lnTo>
                  <a:pt x="21844" y="58166"/>
                </a:lnTo>
                <a:lnTo>
                  <a:pt x="25654" y="58928"/>
                </a:lnTo>
                <a:lnTo>
                  <a:pt x="33400" y="58928"/>
                </a:lnTo>
                <a:lnTo>
                  <a:pt x="58928" y="33401"/>
                </a:lnTo>
                <a:lnTo>
                  <a:pt x="58928" y="29464"/>
                </a:lnTo>
                <a:lnTo>
                  <a:pt x="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2384" y="554863"/>
            <a:ext cx="11935460" cy="4769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4999"/>
              </a:lnSpc>
              <a:spcBef>
                <a:spcPts val="100"/>
              </a:spcBef>
            </a:pPr>
            <a:r>
              <a:rPr dirty="0" sz="2400" spc="-55" b="1">
                <a:solidFill>
                  <a:srgbClr val="0049AC"/>
                </a:solidFill>
                <a:latin typeface="Times New Roman"/>
                <a:cs typeface="Times New Roman"/>
              </a:rPr>
              <a:t>Topic:</a:t>
            </a:r>
            <a:r>
              <a:rPr dirty="0" sz="2400" spc="-180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An</a:t>
            </a:r>
            <a:r>
              <a:rPr dirty="0" sz="2400" spc="-110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Online</a:t>
            </a:r>
            <a:r>
              <a:rPr dirty="0" sz="2400" spc="-85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spc="-35" b="1">
                <a:solidFill>
                  <a:srgbClr val="0049AC"/>
                </a:solidFill>
                <a:latin typeface="Times New Roman"/>
                <a:cs typeface="Times New Roman"/>
              </a:rPr>
              <a:t>E-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Bookshop</a:t>
            </a:r>
            <a:r>
              <a:rPr dirty="0" sz="2400" spc="-45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and</a:t>
            </a:r>
            <a:r>
              <a:rPr dirty="0" sz="2400" spc="-60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49AC"/>
                </a:solidFill>
                <a:latin typeface="Times New Roman"/>
                <a:cs typeface="Times New Roman"/>
              </a:rPr>
              <a:t>E-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Learning</a:t>
            </a:r>
            <a:r>
              <a:rPr dirty="0" sz="2400" spc="-70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Project</a:t>
            </a:r>
            <a:r>
              <a:rPr dirty="0" sz="2400" spc="-85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Combining</a:t>
            </a:r>
            <a:r>
              <a:rPr dirty="0" sz="2400" spc="-65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the</a:t>
            </a:r>
            <a:r>
              <a:rPr dirty="0" sz="2400" spc="-70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Features</a:t>
            </a:r>
            <a:r>
              <a:rPr dirty="0" sz="2400" spc="-65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of</a:t>
            </a:r>
            <a:r>
              <a:rPr dirty="0" sz="2400" spc="-75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an</a:t>
            </a:r>
            <a:r>
              <a:rPr dirty="0" sz="2400" spc="-65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49AC"/>
                </a:solidFill>
                <a:latin typeface="Times New Roman"/>
                <a:cs typeface="Times New Roman"/>
              </a:rPr>
              <a:t>Online 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Bookstore</a:t>
            </a:r>
            <a:r>
              <a:rPr dirty="0" sz="2400" spc="-105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with</a:t>
            </a:r>
            <a:r>
              <a:rPr dirty="0" sz="2400" spc="-75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an</a:t>
            </a:r>
            <a:r>
              <a:rPr dirty="0" sz="2400" spc="-85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49AC"/>
                </a:solidFill>
                <a:latin typeface="Times New Roman"/>
                <a:cs typeface="Times New Roman"/>
              </a:rPr>
              <a:t>E-</a:t>
            </a:r>
            <a:r>
              <a:rPr dirty="0" sz="2400" b="1">
                <a:solidFill>
                  <a:srgbClr val="0049AC"/>
                </a:solidFill>
                <a:latin typeface="Times New Roman"/>
                <a:cs typeface="Times New Roman"/>
              </a:rPr>
              <a:t>Learning</a:t>
            </a:r>
            <a:r>
              <a:rPr dirty="0" sz="2400" spc="-90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49AC"/>
                </a:solidFill>
                <a:latin typeface="Times New Roman"/>
                <a:cs typeface="Times New Roman"/>
              </a:rPr>
              <a:t>Platform</a:t>
            </a:r>
            <a:endParaRPr sz="2400">
              <a:latin typeface="Times New Roman"/>
              <a:cs typeface="Times New Roman"/>
            </a:endParaRPr>
          </a:p>
          <a:p>
            <a:pPr marL="5142865">
              <a:lnSpc>
                <a:spcPct val="100000"/>
              </a:lnSpc>
              <a:spcBef>
                <a:spcPts val="1970"/>
              </a:spcBef>
            </a:pPr>
            <a:r>
              <a:rPr dirty="0" sz="2400">
                <a:solidFill>
                  <a:srgbClr val="0049AC"/>
                </a:solidFill>
                <a:latin typeface="Times New Roman"/>
                <a:cs typeface="Times New Roman"/>
              </a:rPr>
              <a:t>Presented</a:t>
            </a:r>
            <a:r>
              <a:rPr dirty="0" sz="2400" spc="-75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spc="-25">
                <a:solidFill>
                  <a:srgbClr val="0049AC"/>
                </a:solidFill>
                <a:latin typeface="Times New Roman"/>
                <a:cs typeface="Times New Roman"/>
              </a:rPr>
              <a:t>by:</a:t>
            </a:r>
            <a:endParaRPr sz="2400">
              <a:latin typeface="Times New Roman"/>
              <a:cs typeface="Times New Roman"/>
            </a:endParaRPr>
          </a:p>
          <a:p>
            <a:pPr marL="4476750" marR="3350895">
              <a:lnSpc>
                <a:spcPts val="3360"/>
              </a:lnSpc>
              <a:spcBef>
                <a:spcPts val="20"/>
              </a:spcBef>
            </a:pPr>
            <a:r>
              <a:rPr dirty="0" sz="2050" spc="-30" b="1">
                <a:latin typeface="Times New Roman"/>
                <a:cs typeface="Times New Roman"/>
              </a:rPr>
              <a:t>Ajay</a:t>
            </a:r>
            <a:r>
              <a:rPr dirty="0" sz="2050" spc="-125" b="1">
                <a:latin typeface="Times New Roman"/>
                <a:cs typeface="Times New Roman"/>
              </a:rPr>
              <a:t> </a:t>
            </a:r>
            <a:r>
              <a:rPr dirty="0" sz="2050" spc="-105" b="1">
                <a:latin typeface="Times New Roman"/>
                <a:cs typeface="Times New Roman"/>
              </a:rPr>
              <a:t>Kumar</a:t>
            </a:r>
            <a:r>
              <a:rPr dirty="0" sz="2050" spc="-110" b="1">
                <a:latin typeface="Times New Roman"/>
                <a:cs typeface="Times New Roman"/>
              </a:rPr>
              <a:t> </a:t>
            </a:r>
            <a:r>
              <a:rPr dirty="0" sz="2050" spc="-10" b="1">
                <a:latin typeface="Times New Roman"/>
                <a:cs typeface="Times New Roman"/>
              </a:rPr>
              <a:t>Singh</a:t>
            </a:r>
            <a:r>
              <a:rPr dirty="0" sz="2050" spc="-70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-</a:t>
            </a:r>
            <a:r>
              <a:rPr dirty="0" sz="2050" spc="-40" b="1">
                <a:latin typeface="Times New Roman"/>
                <a:cs typeface="Times New Roman"/>
              </a:rPr>
              <a:t> </a:t>
            </a:r>
            <a:r>
              <a:rPr dirty="0" sz="2050" spc="-10" b="1">
                <a:latin typeface="Times New Roman"/>
                <a:cs typeface="Times New Roman"/>
              </a:rPr>
              <a:t>27600122119 </a:t>
            </a:r>
            <a:r>
              <a:rPr dirty="0" sz="2050" spc="-45" b="1">
                <a:latin typeface="Times New Roman"/>
                <a:cs typeface="Times New Roman"/>
              </a:rPr>
              <a:t>Himansu</a:t>
            </a:r>
            <a:r>
              <a:rPr dirty="0" sz="2050" spc="-114" b="1">
                <a:latin typeface="Times New Roman"/>
                <a:cs typeface="Times New Roman"/>
              </a:rPr>
              <a:t> </a:t>
            </a:r>
            <a:r>
              <a:rPr dirty="0" sz="2050" spc="-105" b="1">
                <a:latin typeface="Times New Roman"/>
                <a:cs typeface="Times New Roman"/>
              </a:rPr>
              <a:t>Kumar</a:t>
            </a:r>
            <a:r>
              <a:rPr dirty="0" sz="2050" spc="-110" b="1">
                <a:latin typeface="Times New Roman"/>
                <a:cs typeface="Times New Roman"/>
              </a:rPr>
              <a:t> </a:t>
            </a:r>
            <a:r>
              <a:rPr dirty="0" sz="2050" spc="-10" b="1">
                <a:latin typeface="Times New Roman"/>
                <a:cs typeface="Times New Roman"/>
              </a:rPr>
              <a:t>Singh</a:t>
            </a:r>
            <a:r>
              <a:rPr dirty="0" sz="2050" spc="-60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-</a:t>
            </a:r>
            <a:r>
              <a:rPr dirty="0" sz="2050" spc="-40" b="1">
                <a:latin typeface="Times New Roman"/>
                <a:cs typeface="Times New Roman"/>
              </a:rPr>
              <a:t> </a:t>
            </a:r>
            <a:r>
              <a:rPr dirty="0" sz="2050" spc="-10" b="1">
                <a:latin typeface="Times New Roman"/>
                <a:cs typeface="Times New Roman"/>
              </a:rPr>
              <a:t>27600122031</a:t>
            </a:r>
            <a:endParaRPr sz="2050">
              <a:latin typeface="Times New Roman"/>
              <a:cs typeface="Times New Roman"/>
            </a:endParaRPr>
          </a:p>
          <a:p>
            <a:pPr marL="4476750">
              <a:lnSpc>
                <a:spcPct val="100000"/>
              </a:lnSpc>
              <a:spcBef>
                <a:spcPts val="650"/>
              </a:spcBef>
            </a:pPr>
            <a:r>
              <a:rPr dirty="0" sz="2050" spc="-50" b="1">
                <a:latin typeface="Times New Roman"/>
                <a:cs typeface="Times New Roman"/>
              </a:rPr>
              <a:t>Aman</a:t>
            </a:r>
            <a:r>
              <a:rPr dirty="0" sz="2050" spc="-110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Singh</a:t>
            </a:r>
            <a:r>
              <a:rPr dirty="0" sz="2050" spc="-95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-</a:t>
            </a:r>
            <a:r>
              <a:rPr dirty="0" sz="2050" spc="409" b="1">
                <a:latin typeface="Times New Roman"/>
                <a:cs typeface="Times New Roman"/>
              </a:rPr>
              <a:t> </a:t>
            </a:r>
            <a:r>
              <a:rPr dirty="0" sz="2050" spc="-10" b="1">
                <a:latin typeface="Times New Roman"/>
                <a:cs typeface="Times New Roman"/>
              </a:rPr>
              <a:t>27600122120</a:t>
            </a:r>
            <a:endParaRPr sz="2050">
              <a:latin typeface="Times New Roman"/>
              <a:cs typeface="Times New Roman"/>
            </a:endParaRPr>
          </a:p>
          <a:p>
            <a:pPr marL="4483100" marR="4079875" indent="-6350">
              <a:lnSpc>
                <a:spcPct val="137100"/>
              </a:lnSpc>
              <a:spcBef>
                <a:spcPts val="5"/>
              </a:spcBef>
            </a:pPr>
            <a:r>
              <a:rPr dirty="0" sz="2050" spc="-20" b="1">
                <a:latin typeface="Times New Roman"/>
                <a:cs typeface="Times New Roman"/>
              </a:rPr>
              <a:t>Saksham</a:t>
            </a:r>
            <a:r>
              <a:rPr dirty="0" sz="2050" spc="-85" b="1">
                <a:latin typeface="Times New Roman"/>
                <a:cs typeface="Times New Roman"/>
              </a:rPr>
              <a:t> </a:t>
            </a:r>
            <a:r>
              <a:rPr dirty="0" sz="2050" spc="-45" b="1">
                <a:latin typeface="Times New Roman"/>
                <a:cs typeface="Times New Roman"/>
              </a:rPr>
              <a:t>Gupta</a:t>
            </a:r>
            <a:r>
              <a:rPr dirty="0" sz="2050" spc="-75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-</a:t>
            </a:r>
            <a:r>
              <a:rPr dirty="0" sz="2050" spc="-35" b="1">
                <a:latin typeface="Times New Roman"/>
                <a:cs typeface="Times New Roman"/>
              </a:rPr>
              <a:t> </a:t>
            </a:r>
            <a:r>
              <a:rPr dirty="0" sz="2050" spc="-10" b="1">
                <a:latin typeface="Times New Roman"/>
                <a:cs typeface="Times New Roman"/>
              </a:rPr>
              <a:t>27600122181 </a:t>
            </a:r>
            <a:r>
              <a:rPr dirty="0" sz="2050" spc="-45" b="1">
                <a:latin typeface="Times New Roman"/>
                <a:cs typeface="Times New Roman"/>
              </a:rPr>
              <a:t>Rishu</a:t>
            </a:r>
            <a:r>
              <a:rPr dirty="0" sz="2050" spc="-105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Raj</a:t>
            </a:r>
            <a:r>
              <a:rPr dirty="0" sz="2050" spc="-95" b="1">
                <a:latin typeface="Times New Roman"/>
                <a:cs typeface="Times New Roman"/>
              </a:rPr>
              <a:t> </a:t>
            </a:r>
            <a:r>
              <a:rPr dirty="0" sz="2050" b="1">
                <a:latin typeface="Times New Roman"/>
                <a:cs typeface="Times New Roman"/>
              </a:rPr>
              <a:t>-</a:t>
            </a:r>
            <a:r>
              <a:rPr dirty="0" sz="2050" spc="-55" b="1">
                <a:latin typeface="Times New Roman"/>
                <a:cs typeface="Times New Roman"/>
              </a:rPr>
              <a:t> </a:t>
            </a:r>
            <a:r>
              <a:rPr dirty="0" sz="2050" spc="-10" b="1">
                <a:latin typeface="Times New Roman"/>
                <a:cs typeface="Times New Roman"/>
              </a:rPr>
              <a:t>27600122186</a:t>
            </a:r>
            <a:endParaRPr sz="2050">
              <a:latin typeface="Times New Roman"/>
              <a:cs typeface="Times New Roman"/>
            </a:endParaRPr>
          </a:p>
          <a:p>
            <a:pPr algn="ctr" marR="109855">
              <a:lnSpc>
                <a:spcPct val="100000"/>
              </a:lnSpc>
              <a:spcBef>
                <a:spcPts val="1855"/>
              </a:spcBef>
            </a:pPr>
            <a:r>
              <a:rPr dirty="0" sz="2200" spc="-10" b="1">
                <a:solidFill>
                  <a:srgbClr val="0049AC"/>
                </a:solidFill>
                <a:latin typeface="Times New Roman"/>
                <a:cs typeface="Times New Roman"/>
              </a:rPr>
              <a:t>Supervisor:</a:t>
            </a:r>
            <a:r>
              <a:rPr dirty="0" sz="2200" spc="-100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200" spc="-50" b="1">
                <a:solidFill>
                  <a:srgbClr val="0049AC"/>
                </a:solidFill>
                <a:latin typeface="Times New Roman"/>
                <a:cs typeface="Times New Roman"/>
              </a:rPr>
              <a:t>Mr.</a:t>
            </a:r>
            <a:r>
              <a:rPr dirty="0" sz="2200" spc="-100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0049AC"/>
                </a:solidFill>
                <a:latin typeface="Times New Roman"/>
                <a:cs typeface="Times New Roman"/>
              </a:rPr>
              <a:t>Jyoti</a:t>
            </a:r>
            <a:r>
              <a:rPr dirty="0" sz="2200" spc="-80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0049AC"/>
                </a:solidFill>
                <a:latin typeface="Times New Roman"/>
                <a:cs typeface="Times New Roman"/>
              </a:rPr>
              <a:t>Priyo</a:t>
            </a:r>
            <a:r>
              <a:rPr dirty="0" sz="2200" spc="-85" b="1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0049AC"/>
                </a:solidFill>
                <a:latin typeface="Times New Roman"/>
                <a:cs typeface="Times New Roman"/>
              </a:rPr>
              <a:t>Khanra</a:t>
            </a:r>
            <a:endParaRPr sz="2200">
              <a:latin typeface="Times New Roman"/>
              <a:cs typeface="Times New Roman"/>
            </a:endParaRPr>
          </a:p>
          <a:p>
            <a:pPr algn="ctr" marR="16510">
              <a:lnSpc>
                <a:spcPct val="100000"/>
              </a:lnSpc>
              <a:spcBef>
                <a:spcPts val="1900"/>
              </a:spcBef>
            </a:pPr>
            <a:r>
              <a:rPr dirty="0" sz="2400">
                <a:solidFill>
                  <a:srgbClr val="0049AC"/>
                </a:solidFill>
                <a:latin typeface="Times New Roman"/>
                <a:cs typeface="Times New Roman"/>
              </a:rPr>
              <a:t>Department</a:t>
            </a:r>
            <a:r>
              <a:rPr dirty="0" sz="2400" spc="-30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49AC"/>
                </a:solidFill>
                <a:latin typeface="Times New Roman"/>
                <a:cs typeface="Times New Roman"/>
              </a:rPr>
              <a:t>Of</a:t>
            </a:r>
            <a:r>
              <a:rPr dirty="0" sz="2400" spc="-15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49AC"/>
                </a:solidFill>
                <a:latin typeface="Times New Roman"/>
                <a:cs typeface="Times New Roman"/>
              </a:rPr>
              <a:t>Computer</a:t>
            </a:r>
            <a:r>
              <a:rPr dirty="0" sz="2400" spc="-10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49AC"/>
                </a:solidFill>
                <a:latin typeface="Times New Roman"/>
                <a:cs typeface="Times New Roman"/>
              </a:rPr>
              <a:t>Science</a:t>
            </a:r>
            <a:r>
              <a:rPr dirty="0" sz="2400" spc="-35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0049AC"/>
                </a:solidFill>
                <a:latin typeface="Times New Roman"/>
                <a:cs typeface="Times New Roman"/>
              </a:rPr>
              <a:t>&amp;</a:t>
            </a:r>
            <a:r>
              <a:rPr dirty="0" sz="2400" spc="-25">
                <a:solidFill>
                  <a:srgbClr val="0049AC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0049AC"/>
                </a:solidFill>
                <a:latin typeface="Times New Roman"/>
                <a:cs typeface="Times New Roman"/>
              </a:rPr>
              <a:t>Engineering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2575" y="5224348"/>
            <a:ext cx="1466850" cy="138709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618991" y="6370726"/>
            <a:ext cx="49403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latin typeface="Times New Roman"/>
                <a:cs typeface="Times New Roman"/>
              </a:rPr>
              <a:t>Budge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Budge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spc="-30" b="1">
                <a:latin typeface="Times New Roman"/>
                <a:cs typeface="Times New Roman"/>
              </a:rPr>
              <a:t>Institute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120" b="1">
                <a:latin typeface="Times New Roman"/>
                <a:cs typeface="Times New Roman"/>
              </a:rPr>
              <a:t> </a:t>
            </a:r>
            <a:r>
              <a:rPr dirty="0" sz="2000" spc="-60" b="1">
                <a:latin typeface="Times New Roman"/>
                <a:cs typeface="Times New Roman"/>
              </a:rPr>
              <a:t>Technology,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Kolkata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80091" y="6389319"/>
            <a:ext cx="14687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45" b="1">
                <a:latin typeface="Times New Roman"/>
                <a:cs typeface="Times New Roman"/>
              </a:rPr>
              <a:t>July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15 ,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2026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59" y="609980"/>
            <a:ext cx="3834129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OBJECTIVE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25" y="2023619"/>
            <a:ext cx="104775" cy="1047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6491" y="1743436"/>
            <a:ext cx="11492230" cy="4222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100"/>
              </a:spcBef>
            </a:pPr>
            <a:r>
              <a:rPr dirty="0" sz="2500">
                <a:latin typeface="Cambria"/>
                <a:cs typeface="Cambria"/>
              </a:rPr>
              <a:t>The</a:t>
            </a:r>
            <a:r>
              <a:rPr dirty="0" sz="2500" spc="9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main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objective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of</a:t>
            </a:r>
            <a:r>
              <a:rPr dirty="0" sz="2500" spc="5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our</a:t>
            </a:r>
            <a:r>
              <a:rPr dirty="0" sz="2500" spc="3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project</a:t>
            </a:r>
            <a:r>
              <a:rPr dirty="0" sz="2500" spc="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(Eduverse)</a:t>
            </a:r>
            <a:r>
              <a:rPr dirty="0" sz="2500" spc="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is</a:t>
            </a:r>
            <a:r>
              <a:rPr dirty="0" sz="2500" spc="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to</a:t>
            </a:r>
            <a:r>
              <a:rPr dirty="0" sz="2500" spc="4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develop</a:t>
            </a:r>
            <a:r>
              <a:rPr dirty="0" sz="2500" spc="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</a:t>
            </a:r>
            <a:r>
              <a:rPr dirty="0" sz="2500" spc="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unified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digital</a:t>
            </a:r>
            <a:r>
              <a:rPr dirty="0" sz="2500" spc="12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platform </a:t>
            </a:r>
            <a:r>
              <a:rPr dirty="0" sz="2500">
                <a:latin typeface="Cambria"/>
                <a:cs typeface="Cambria"/>
              </a:rPr>
              <a:t>that</a:t>
            </a:r>
            <a:r>
              <a:rPr dirty="0" sz="2500" spc="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combines</a:t>
            </a:r>
            <a:r>
              <a:rPr dirty="0" sz="2500" spc="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</a:t>
            </a:r>
            <a:r>
              <a:rPr dirty="0" sz="2500" spc="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online</a:t>
            </a:r>
            <a:r>
              <a:rPr dirty="0" sz="2500" spc="85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e-</a:t>
            </a:r>
            <a:r>
              <a:rPr dirty="0" sz="2500">
                <a:latin typeface="Cambria"/>
                <a:cs typeface="Cambria"/>
              </a:rPr>
              <a:t>book</a:t>
            </a:r>
            <a:r>
              <a:rPr dirty="0" sz="2500" spc="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store</a:t>
            </a:r>
            <a:r>
              <a:rPr dirty="0" sz="2500" spc="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e-</a:t>
            </a:r>
            <a:r>
              <a:rPr dirty="0" sz="2500">
                <a:latin typeface="Cambria"/>
                <a:cs typeface="Cambria"/>
              </a:rPr>
              <a:t>learning</a:t>
            </a:r>
            <a:r>
              <a:rPr dirty="0" sz="2500" spc="114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system</a:t>
            </a:r>
            <a:r>
              <a:rPr dirty="0" sz="2500" spc="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to</a:t>
            </a:r>
            <a:r>
              <a:rPr dirty="0" sz="2500" spc="60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make</a:t>
            </a:r>
            <a:endParaRPr sz="25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2500">
                <a:latin typeface="Cambria"/>
                <a:cs typeface="Cambria"/>
              </a:rPr>
              <a:t>education</a:t>
            </a:r>
            <a:r>
              <a:rPr dirty="0" sz="2500" spc="5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more</a:t>
            </a:r>
            <a:r>
              <a:rPr dirty="0" sz="2500" spc="3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accessible,</a:t>
            </a:r>
            <a:r>
              <a:rPr dirty="0" sz="2500" spc="5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interactive,</a:t>
            </a:r>
            <a:r>
              <a:rPr dirty="0" sz="2500" spc="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35">
                <a:latin typeface="Cambria"/>
                <a:cs typeface="Cambria"/>
              </a:rPr>
              <a:t> engaging.</a:t>
            </a:r>
            <a:endParaRPr sz="2500">
              <a:latin typeface="Cambria"/>
              <a:cs typeface="Cambria"/>
            </a:endParaRPr>
          </a:p>
          <a:p>
            <a:pPr algn="just" marL="12700" marR="820419">
              <a:lnSpc>
                <a:spcPct val="114999"/>
              </a:lnSpc>
              <a:spcBef>
                <a:spcPts val="2405"/>
              </a:spcBef>
            </a:pPr>
            <a:r>
              <a:rPr dirty="0" sz="2500">
                <a:latin typeface="Cambria"/>
                <a:cs typeface="Cambria"/>
              </a:rPr>
              <a:t>The</a:t>
            </a:r>
            <a:r>
              <a:rPr dirty="0" sz="2500" spc="13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platform</a:t>
            </a:r>
            <a:r>
              <a:rPr dirty="0" sz="2500" spc="8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aims</a:t>
            </a:r>
            <a:r>
              <a:rPr dirty="0" sz="2500" spc="8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to</a:t>
            </a:r>
            <a:r>
              <a:rPr dirty="0" sz="2500" spc="9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provide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students,</a:t>
            </a:r>
            <a:r>
              <a:rPr dirty="0" sz="2500" spc="9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teachers,</a:t>
            </a:r>
            <a:r>
              <a:rPr dirty="0" sz="2500" spc="10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8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readers</a:t>
            </a:r>
            <a:r>
              <a:rPr dirty="0" sz="2500" spc="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with</a:t>
            </a:r>
            <a:r>
              <a:rPr dirty="0" sz="2500" spc="9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</a:t>
            </a:r>
            <a:r>
              <a:rPr dirty="0" sz="2500" spc="90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seamless </a:t>
            </a:r>
            <a:r>
              <a:rPr dirty="0" sz="2500">
                <a:latin typeface="Cambria"/>
                <a:cs typeface="Cambria"/>
              </a:rPr>
              <a:t>experience</a:t>
            </a:r>
            <a:r>
              <a:rPr dirty="0" sz="2500" spc="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where</a:t>
            </a:r>
            <a:r>
              <a:rPr dirty="0" sz="2500" spc="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they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can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purchase</a:t>
            </a:r>
            <a:r>
              <a:rPr dirty="0" sz="2500" spc="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read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books,</a:t>
            </a:r>
            <a:r>
              <a:rPr dirty="0" sz="2500" spc="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enroll</a:t>
            </a:r>
            <a:r>
              <a:rPr dirty="0" sz="2500" spc="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in</a:t>
            </a:r>
            <a:r>
              <a:rPr dirty="0" sz="2500" spc="13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online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courses,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1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track</a:t>
            </a:r>
            <a:r>
              <a:rPr dirty="0" sz="2500" spc="1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their</a:t>
            </a:r>
            <a:r>
              <a:rPr dirty="0" sz="2500" spc="1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learning</a:t>
            </a:r>
            <a:r>
              <a:rPr dirty="0" sz="2500" spc="15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progress.</a:t>
            </a:r>
            <a:endParaRPr sz="2500">
              <a:latin typeface="Cambria"/>
              <a:cs typeface="Cambria"/>
            </a:endParaRPr>
          </a:p>
          <a:p>
            <a:pPr marL="12700" marR="42545">
              <a:lnSpc>
                <a:spcPct val="114799"/>
              </a:lnSpc>
              <a:spcBef>
                <a:spcPts val="2715"/>
              </a:spcBef>
            </a:pPr>
            <a:r>
              <a:rPr dirty="0" sz="2500">
                <a:latin typeface="Cambria"/>
                <a:cs typeface="Cambria"/>
              </a:rPr>
              <a:t>Eduverse</a:t>
            </a:r>
            <a:r>
              <a:rPr dirty="0" sz="2500" spc="3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seeks</a:t>
            </a:r>
            <a:r>
              <a:rPr dirty="0" sz="2500" spc="3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to</a:t>
            </a:r>
            <a:r>
              <a:rPr dirty="0" sz="2500" spc="1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promote</a:t>
            </a:r>
            <a:r>
              <a:rPr dirty="0" sz="2500" spc="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digital</a:t>
            </a:r>
            <a:r>
              <a:rPr dirty="0" sz="2500" spc="9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literacy</a:t>
            </a:r>
            <a:r>
              <a:rPr dirty="0" sz="2500" spc="4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1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bridge</a:t>
            </a:r>
            <a:r>
              <a:rPr dirty="0" sz="2500" spc="1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the</a:t>
            </a:r>
            <a:r>
              <a:rPr dirty="0" sz="2500" spc="1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gap</a:t>
            </a:r>
            <a:r>
              <a:rPr dirty="0" sz="2500" spc="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between</a:t>
            </a:r>
            <a:r>
              <a:rPr dirty="0" sz="2500" spc="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traditional </a:t>
            </a:r>
            <a:r>
              <a:rPr dirty="0" sz="2500">
                <a:latin typeface="Cambria"/>
                <a:cs typeface="Cambria"/>
              </a:rPr>
              <a:t>learning</a:t>
            </a:r>
            <a:r>
              <a:rPr dirty="0" sz="2500" spc="10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modern</a:t>
            </a:r>
            <a:r>
              <a:rPr dirty="0" sz="2500" spc="9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technology</a:t>
            </a:r>
            <a:r>
              <a:rPr dirty="0" sz="2500" spc="10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through</a:t>
            </a:r>
            <a:r>
              <a:rPr dirty="0" sz="2500" spc="10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</a:t>
            </a:r>
            <a:r>
              <a:rPr dirty="0" sz="2500" spc="70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user-</a:t>
            </a:r>
            <a:r>
              <a:rPr dirty="0" sz="2500">
                <a:latin typeface="Cambria"/>
                <a:cs typeface="Cambria"/>
              </a:rPr>
              <a:t>friendly</a:t>
            </a:r>
            <a:r>
              <a:rPr dirty="0" sz="2500" spc="114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scalable</a:t>
            </a:r>
            <a:r>
              <a:rPr dirty="0" sz="2500" spc="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web</a:t>
            </a:r>
            <a:r>
              <a:rPr dirty="0" sz="2500" spc="40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solution.</a:t>
            </a:r>
            <a:endParaRPr sz="25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25" y="3684144"/>
            <a:ext cx="104775" cy="1047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25" y="5344669"/>
            <a:ext cx="104775" cy="1047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Problem</a:t>
            </a:r>
            <a:r>
              <a:rPr dirty="0" spc="-260"/>
              <a:t> </a:t>
            </a:r>
            <a:r>
              <a:rPr dirty="0" spc="-10"/>
              <a:t>Statement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744" y="1578611"/>
            <a:ext cx="104775" cy="1047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1997" y="1299467"/>
            <a:ext cx="10685780" cy="4654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74295">
              <a:lnSpc>
                <a:spcPct val="114999"/>
              </a:lnSpc>
              <a:spcBef>
                <a:spcPts val="90"/>
              </a:spcBef>
            </a:pPr>
            <a:r>
              <a:rPr dirty="0" sz="2500">
                <a:latin typeface="Cambria"/>
                <a:cs typeface="Cambria"/>
              </a:rPr>
              <a:t>In</a:t>
            </a:r>
            <a:r>
              <a:rPr dirty="0" sz="2500" spc="19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today’s</a:t>
            </a:r>
            <a:r>
              <a:rPr dirty="0" sz="2500" spc="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world,</a:t>
            </a:r>
            <a:r>
              <a:rPr dirty="0" sz="2500" spc="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online</a:t>
            </a:r>
            <a:r>
              <a:rPr dirty="0" sz="2500" spc="10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learning</a:t>
            </a:r>
            <a:r>
              <a:rPr dirty="0" sz="2500" spc="10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digital</a:t>
            </a:r>
            <a:r>
              <a:rPr dirty="0" sz="2500" spc="1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reading</a:t>
            </a:r>
            <a:r>
              <a:rPr dirty="0" sz="2500" spc="9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platforms</a:t>
            </a:r>
            <a:r>
              <a:rPr dirty="0" sz="2500" spc="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are</a:t>
            </a:r>
            <a:r>
              <a:rPr dirty="0" sz="2500" spc="7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increasing </a:t>
            </a:r>
            <a:r>
              <a:rPr dirty="0" sz="2500">
                <a:latin typeface="Cambria"/>
                <a:cs typeface="Cambria"/>
              </a:rPr>
              <a:t>rapidly,</a:t>
            </a:r>
            <a:r>
              <a:rPr dirty="0" sz="2500" spc="3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but</a:t>
            </a:r>
            <a:r>
              <a:rPr dirty="0" sz="2500" spc="1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most</a:t>
            </a:r>
            <a:r>
              <a:rPr dirty="0" sz="2500" spc="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of</a:t>
            </a:r>
            <a:r>
              <a:rPr dirty="0" sz="2500" spc="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them</a:t>
            </a:r>
            <a:r>
              <a:rPr dirty="0" sz="2500" spc="3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are</a:t>
            </a:r>
            <a:r>
              <a:rPr dirty="0" sz="2500" spc="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separated</a:t>
            </a:r>
            <a:r>
              <a:rPr dirty="0" sz="2500" spc="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—</a:t>
            </a:r>
            <a:r>
              <a:rPr dirty="0" sz="2500" spc="25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e-</a:t>
            </a:r>
            <a:r>
              <a:rPr dirty="0" sz="2500">
                <a:latin typeface="Cambria"/>
                <a:cs typeface="Cambria"/>
              </a:rPr>
              <a:t>learning</a:t>
            </a:r>
            <a:r>
              <a:rPr dirty="0" sz="2500" spc="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platforms</a:t>
            </a:r>
            <a:r>
              <a:rPr dirty="0" sz="2500" spc="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focus</a:t>
            </a:r>
            <a:r>
              <a:rPr dirty="0" sz="2500" spc="2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only</a:t>
            </a:r>
            <a:r>
              <a:rPr dirty="0" sz="2500" spc="35">
                <a:latin typeface="Cambria"/>
                <a:cs typeface="Cambria"/>
              </a:rPr>
              <a:t> </a:t>
            </a:r>
            <a:r>
              <a:rPr dirty="0" sz="2500" spc="-25">
                <a:latin typeface="Cambria"/>
                <a:cs typeface="Cambria"/>
              </a:rPr>
              <a:t>on </a:t>
            </a:r>
            <a:r>
              <a:rPr dirty="0" sz="2500" spc="-20">
                <a:latin typeface="Cambria"/>
                <a:cs typeface="Cambria"/>
              </a:rPr>
              <a:t>video-</a:t>
            </a:r>
            <a:r>
              <a:rPr dirty="0" sz="2500">
                <a:latin typeface="Cambria"/>
                <a:cs typeface="Cambria"/>
              </a:rPr>
              <a:t>based</a:t>
            </a:r>
            <a:r>
              <a:rPr dirty="0" sz="2500" spc="3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education,</a:t>
            </a:r>
            <a:r>
              <a:rPr dirty="0" sz="2500" spc="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while</a:t>
            </a:r>
            <a:r>
              <a:rPr dirty="0" sz="2500" spc="15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e-</a:t>
            </a:r>
            <a:r>
              <a:rPr dirty="0" sz="2500">
                <a:latin typeface="Cambria"/>
                <a:cs typeface="Cambria"/>
              </a:rPr>
              <a:t>book</a:t>
            </a:r>
            <a:r>
              <a:rPr dirty="0" sz="2500" spc="1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platforms</a:t>
            </a:r>
            <a:r>
              <a:rPr dirty="0" sz="2500" spc="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only</a:t>
            </a:r>
            <a:r>
              <a:rPr dirty="0" sz="2500" spc="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provide</a:t>
            </a:r>
            <a:r>
              <a:rPr dirty="0" sz="2500" spc="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reading</a:t>
            </a:r>
            <a:r>
              <a:rPr dirty="0" sz="2500" spc="40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material.</a:t>
            </a:r>
            <a:endParaRPr sz="2500">
              <a:latin typeface="Cambria"/>
              <a:cs typeface="Cambria"/>
            </a:endParaRPr>
          </a:p>
          <a:p>
            <a:pPr algn="just" marL="12700" marR="156845" indent="74295">
              <a:lnSpc>
                <a:spcPct val="114999"/>
              </a:lnSpc>
              <a:spcBef>
                <a:spcPts val="2395"/>
              </a:spcBef>
            </a:pPr>
            <a:r>
              <a:rPr dirty="0" sz="2500">
                <a:latin typeface="Cambria"/>
                <a:cs typeface="Cambria"/>
              </a:rPr>
              <a:t>Students</a:t>
            </a:r>
            <a:r>
              <a:rPr dirty="0" sz="2500" spc="15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11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readers</a:t>
            </a:r>
            <a:r>
              <a:rPr dirty="0" sz="2500" spc="8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often</a:t>
            </a:r>
            <a:r>
              <a:rPr dirty="0" sz="2500" spc="11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need</a:t>
            </a:r>
            <a:r>
              <a:rPr dirty="0" sz="2500" spc="9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to</a:t>
            </a:r>
            <a:r>
              <a:rPr dirty="0" sz="2500" spc="9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switch</a:t>
            </a:r>
            <a:r>
              <a:rPr dirty="0" sz="2500" spc="10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between</a:t>
            </a:r>
            <a:r>
              <a:rPr dirty="0" sz="2500" spc="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multiple</a:t>
            </a:r>
            <a:r>
              <a:rPr dirty="0" sz="2500" spc="10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applications</a:t>
            </a:r>
            <a:r>
              <a:rPr dirty="0" sz="2500" spc="114">
                <a:latin typeface="Cambria"/>
                <a:cs typeface="Cambria"/>
              </a:rPr>
              <a:t> </a:t>
            </a:r>
            <a:r>
              <a:rPr dirty="0" sz="2500" spc="-25">
                <a:latin typeface="Cambria"/>
                <a:cs typeface="Cambria"/>
              </a:rPr>
              <a:t>to </a:t>
            </a:r>
            <a:r>
              <a:rPr dirty="0" sz="2500">
                <a:latin typeface="Cambria"/>
                <a:cs typeface="Cambria"/>
              </a:rPr>
              <a:t>access</a:t>
            </a:r>
            <a:r>
              <a:rPr dirty="0" sz="2500" spc="1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study</a:t>
            </a:r>
            <a:r>
              <a:rPr dirty="0" sz="2500" spc="1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materials,</a:t>
            </a:r>
            <a:r>
              <a:rPr dirty="0" sz="2500" spc="20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courses,</a:t>
            </a:r>
            <a:r>
              <a:rPr dirty="0" sz="2500" spc="1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1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books.</a:t>
            </a:r>
            <a:r>
              <a:rPr dirty="0" sz="2500" spc="195">
                <a:latin typeface="Cambria"/>
                <a:cs typeface="Cambria"/>
              </a:rPr>
              <a:t> </a:t>
            </a:r>
            <a:r>
              <a:rPr dirty="0" sz="2500" spc="50">
                <a:latin typeface="Cambria"/>
                <a:cs typeface="Cambria"/>
              </a:rPr>
              <a:t>This</a:t>
            </a:r>
            <a:r>
              <a:rPr dirty="0" sz="2500" spc="24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causes</a:t>
            </a:r>
            <a:r>
              <a:rPr dirty="0" sz="2500" spc="18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inconvenience,</a:t>
            </a:r>
            <a:r>
              <a:rPr dirty="0" sz="2500" spc="170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data </a:t>
            </a:r>
            <a:r>
              <a:rPr dirty="0" sz="2500">
                <a:latin typeface="Cambria"/>
                <a:cs typeface="Cambria"/>
              </a:rPr>
              <a:t>loss,</a:t>
            </a:r>
            <a:r>
              <a:rPr dirty="0" sz="2500" spc="10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10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</a:t>
            </a:r>
            <a:r>
              <a:rPr dirty="0" sz="2500" spc="8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lack</a:t>
            </a:r>
            <a:r>
              <a:rPr dirty="0" sz="2500" spc="1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of</a:t>
            </a:r>
            <a:r>
              <a:rPr dirty="0" sz="2500" spc="10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</a:t>
            </a:r>
            <a:r>
              <a:rPr dirty="0" sz="2500" spc="10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unified</a:t>
            </a:r>
            <a:r>
              <a:rPr dirty="0" sz="2500" spc="1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learning</a:t>
            </a:r>
            <a:r>
              <a:rPr dirty="0" sz="2500" spc="13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experience.</a:t>
            </a:r>
            <a:endParaRPr sz="2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500">
              <a:latin typeface="Cambria"/>
              <a:cs typeface="Cambria"/>
            </a:endParaRPr>
          </a:p>
          <a:p>
            <a:pPr marL="79375" marR="29845" indent="73025">
              <a:lnSpc>
                <a:spcPct val="114999"/>
              </a:lnSpc>
            </a:pPr>
            <a:r>
              <a:rPr dirty="0" sz="2500">
                <a:latin typeface="Cambria"/>
                <a:cs typeface="Cambria"/>
              </a:rPr>
              <a:t>Additionally,</a:t>
            </a:r>
            <a:r>
              <a:rPr dirty="0" sz="2500" spc="1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traditional</a:t>
            </a:r>
            <a:r>
              <a:rPr dirty="0" sz="2500" spc="1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education</a:t>
            </a:r>
            <a:r>
              <a:rPr dirty="0" sz="2500" spc="114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systems</a:t>
            </a:r>
            <a:r>
              <a:rPr dirty="0" sz="2500" spc="114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still</a:t>
            </a:r>
            <a:r>
              <a:rPr dirty="0" sz="2500" spc="14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depend</a:t>
            </a:r>
            <a:r>
              <a:rPr dirty="0" sz="2500" spc="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heavily</a:t>
            </a:r>
            <a:r>
              <a:rPr dirty="0" sz="2500" spc="9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on</a:t>
            </a:r>
            <a:r>
              <a:rPr dirty="0" sz="2500" spc="9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physical </a:t>
            </a:r>
            <a:r>
              <a:rPr dirty="0" sz="2500">
                <a:latin typeface="Cambria"/>
                <a:cs typeface="Cambria"/>
              </a:rPr>
              <a:t>books</a:t>
            </a:r>
            <a:r>
              <a:rPr dirty="0" sz="2500" spc="11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1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offline</a:t>
            </a:r>
            <a:r>
              <a:rPr dirty="0" sz="2500" spc="1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classes,</a:t>
            </a:r>
            <a:r>
              <a:rPr dirty="0" sz="2500" spc="1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making</a:t>
            </a:r>
            <a:r>
              <a:rPr dirty="0" sz="2500" spc="22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learning</a:t>
            </a:r>
            <a:r>
              <a:rPr dirty="0" sz="2500" spc="1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less</a:t>
            </a:r>
            <a:r>
              <a:rPr dirty="0" sz="2500" spc="114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flexible,</a:t>
            </a:r>
            <a:r>
              <a:rPr dirty="0" sz="2500" spc="1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especially</a:t>
            </a:r>
            <a:r>
              <a:rPr dirty="0" sz="2500" spc="1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for</a:t>
            </a:r>
            <a:r>
              <a:rPr dirty="0" sz="2500" spc="12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remote learners.</a:t>
            </a:r>
            <a:endParaRPr sz="25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744" y="3191511"/>
            <a:ext cx="104775" cy="1047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571" y="4880611"/>
            <a:ext cx="104775" cy="1047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dirty="0" spc="-160"/>
              <a:t> </a:t>
            </a:r>
            <a:r>
              <a:rPr dirty="0" spc="-10"/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25" y="1791463"/>
            <a:ext cx="104775" cy="1047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6491" y="1512214"/>
            <a:ext cx="11129010" cy="4318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4295">
              <a:lnSpc>
                <a:spcPct val="114799"/>
              </a:lnSpc>
              <a:spcBef>
                <a:spcPts val="100"/>
              </a:spcBef>
            </a:pPr>
            <a:r>
              <a:rPr dirty="0" sz="2500">
                <a:latin typeface="Cambria"/>
                <a:cs typeface="Cambria"/>
              </a:rPr>
              <a:t>Eduverse</a:t>
            </a:r>
            <a:r>
              <a:rPr dirty="0" sz="2500" spc="3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has</a:t>
            </a:r>
            <a:r>
              <a:rPr dirty="0" sz="2500" spc="-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been</a:t>
            </a:r>
            <a:r>
              <a:rPr dirty="0" sz="2500" spc="2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designed</a:t>
            </a:r>
            <a:r>
              <a:rPr dirty="0" sz="2500" spc="5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with</a:t>
            </a:r>
            <a:r>
              <a:rPr dirty="0" sz="2500" spc="1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multiple interconnected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modules</a:t>
            </a:r>
            <a:r>
              <a:rPr dirty="0" sz="2500" spc="2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that</a:t>
            </a:r>
            <a:r>
              <a:rPr dirty="0" sz="2500" spc="1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together </a:t>
            </a:r>
            <a:r>
              <a:rPr dirty="0" sz="2500">
                <a:latin typeface="Cambria"/>
                <a:cs typeface="Cambria"/>
              </a:rPr>
              <a:t>form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</a:t>
            </a:r>
            <a:r>
              <a:rPr dirty="0" sz="2500" spc="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complete</a:t>
            </a:r>
            <a:r>
              <a:rPr dirty="0" sz="2500" spc="9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digital</a:t>
            </a:r>
            <a:r>
              <a:rPr dirty="0" sz="2500" spc="15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learning</a:t>
            </a:r>
            <a:r>
              <a:rPr dirty="0" sz="2500" spc="8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reading</a:t>
            </a:r>
            <a:r>
              <a:rPr dirty="0" sz="2500" spc="100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ecosystem.</a:t>
            </a:r>
            <a:endParaRPr sz="2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500">
              <a:latin typeface="Cambria"/>
              <a:cs typeface="Cambria"/>
            </a:endParaRPr>
          </a:p>
          <a:p>
            <a:pPr marL="139065" marR="1550035" indent="-53340">
              <a:lnSpc>
                <a:spcPct val="114999"/>
              </a:lnSpc>
            </a:pPr>
            <a:r>
              <a:rPr dirty="0" sz="2500" spc="70">
                <a:latin typeface="Cambria"/>
                <a:cs typeface="Cambria"/>
              </a:rPr>
              <a:t>Each</a:t>
            </a:r>
            <a:r>
              <a:rPr dirty="0" sz="2500" spc="14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module</a:t>
            </a:r>
            <a:r>
              <a:rPr dirty="0" sz="2500" spc="4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focuses</a:t>
            </a:r>
            <a:r>
              <a:rPr dirty="0" sz="2500" spc="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on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</a:t>
            </a:r>
            <a:r>
              <a:rPr dirty="0" sz="2500" spc="5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specific</a:t>
            </a:r>
            <a:r>
              <a:rPr dirty="0" sz="2500" spc="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functionality</a:t>
            </a:r>
            <a:r>
              <a:rPr dirty="0" sz="2500" spc="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to</a:t>
            </a:r>
            <a:r>
              <a:rPr dirty="0" sz="2500" spc="5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enhance</a:t>
            </a:r>
            <a:r>
              <a:rPr dirty="0" sz="2500" spc="9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the</a:t>
            </a:r>
            <a:r>
              <a:rPr dirty="0" sz="2500" spc="50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user </a:t>
            </a:r>
            <a:r>
              <a:rPr dirty="0" sz="2500" spc="-10">
                <a:latin typeface="Cambria"/>
                <a:cs typeface="Cambria"/>
              </a:rPr>
              <a:t>experience</a:t>
            </a:r>
            <a:r>
              <a:rPr dirty="0" sz="2500" spc="-3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-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ensure</a:t>
            </a:r>
            <a:r>
              <a:rPr dirty="0" sz="2500" spc="-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smooth</a:t>
            </a:r>
            <a:r>
              <a:rPr dirty="0" sz="2500" spc="-5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operation</a:t>
            </a:r>
            <a:r>
              <a:rPr dirty="0" sz="2500" spc="-3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of</a:t>
            </a:r>
            <a:r>
              <a:rPr dirty="0" sz="2500" spc="-5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the</a:t>
            </a:r>
            <a:r>
              <a:rPr dirty="0" sz="2500" spc="-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platform</a:t>
            </a:r>
            <a:r>
              <a:rPr dirty="0" sz="2500" spc="-5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—</a:t>
            </a:r>
            <a:r>
              <a:rPr dirty="0" sz="2500" spc="-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from</a:t>
            </a:r>
            <a:r>
              <a:rPr dirty="0" sz="2500" spc="-55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user </a:t>
            </a:r>
            <a:r>
              <a:rPr dirty="0" sz="2500">
                <a:latin typeface="Cambria"/>
                <a:cs typeface="Cambria"/>
              </a:rPr>
              <a:t>authentication</a:t>
            </a:r>
            <a:r>
              <a:rPr dirty="0" sz="2500" spc="10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to</a:t>
            </a:r>
            <a:r>
              <a:rPr dirty="0" sz="2500" spc="5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course</a:t>
            </a:r>
            <a:r>
              <a:rPr dirty="0" sz="2500" spc="4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management</a:t>
            </a:r>
            <a:r>
              <a:rPr dirty="0" sz="2500" spc="10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60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e-</a:t>
            </a:r>
            <a:r>
              <a:rPr dirty="0" sz="2500">
                <a:latin typeface="Cambria"/>
                <a:cs typeface="Cambria"/>
              </a:rPr>
              <a:t>book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purchases.</a:t>
            </a:r>
            <a:endParaRPr sz="2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500">
              <a:latin typeface="Cambria"/>
              <a:cs typeface="Cambria"/>
            </a:endParaRPr>
          </a:p>
          <a:p>
            <a:pPr marL="12700" marR="497840" indent="74295">
              <a:lnSpc>
                <a:spcPct val="114999"/>
              </a:lnSpc>
            </a:pPr>
            <a:r>
              <a:rPr dirty="0" sz="2500">
                <a:latin typeface="Cambria"/>
                <a:cs typeface="Cambria"/>
              </a:rPr>
              <a:t>User</a:t>
            </a:r>
            <a:r>
              <a:rPr dirty="0" sz="2500" spc="3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Authentication,</a:t>
            </a:r>
            <a:r>
              <a:rPr dirty="0" sz="2500" spc="395">
                <a:latin typeface="Cambria"/>
                <a:cs typeface="Cambria"/>
              </a:rPr>
              <a:t> </a:t>
            </a:r>
            <a:r>
              <a:rPr dirty="0" sz="2500" spc="110">
                <a:latin typeface="Cambria"/>
                <a:cs typeface="Cambria"/>
              </a:rPr>
              <a:t>E-</a:t>
            </a:r>
            <a:r>
              <a:rPr dirty="0" sz="2500" spc="-2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Book</a:t>
            </a:r>
            <a:r>
              <a:rPr dirty="0" sz="2500" spc="35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Store,</a:t>
            </a:r>
            <a:r>
              <a:rPr dirty="0" sz="2500" spc="395">
                <a:latin typeface="Cambria"/>
                <a:cs typeface="Cambria"/>
              </a:rPr>
              <a:t> </a:t>
            </a:r>
            <a:r>
              <a:rPr dirty="0" sz="2500" spc="110">
                <a:latin typeface="Cambria"/>
                <a:cs typeface="Cambria"/>
              </a:rPr>
              <a:t>E-</a:t>
            </a:r>
            <a:r>
              <a:rPr dirty="0" sz="2500" spc="-254">
                <a:latin typeface="Cambria"/>
                <a:cs typeface="Cambria"/>
              </a:rPr>
              <a:t> </a:t>
            </a:r>
            <a:r>
              <a:rPr dirty="0" sz="2500" spc="60">
                <a:latin typeface="Cambria"/>
                <a:cs typeface="Cambria"/>
              </a:rPr>
              <a:t>Learning,</a:t>
            </a:r>
            <a:r>
              <a:rPr dirty="0" sz="2500" spc="3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Progress</a:t>
            </a:r>
            <a:r>
              <a:rPr dirty="0" sz="2500" spc="31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Tracking,</a:t>
            </a:r>
            <a:r>
              <a:rPr dirty="0" sz="2500" spc="409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Admin </a:t>
            </a:r>
            <a:r>
              <a:rPr dirty="0" sz="2500">
                <a:latin typeface="Cambria"/>
                <a:cs typeface="Cambria"/>
              </a:rPr>
              <a:t>Panel,</a:t>
            </a:r>
            <a:r>
              <a:rPr dirty="0" sz="2500" spc="2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Search</a:t>
            </a:r>
            <a:r>
              <a:rPr dirty="0" sz="2500" spc="20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&amp;</a:t>
            </a:r>
            <a:r>
              <a:rPr dirty="0" sz="2500" spc="560">
                <a:latin typeface="Cambria"/>
                <a:cs typeface="Cambria"/>
              </a:rPr>
              <a:t> </a:t>
            </a:r>
            <a:r>
              <a:rPr dirty="0" sz="2500" spc="60">
                <a:latin typeface="Cambria"/>
                <a:cs typeface="Cambria"/>
              </a:rPr>
              <a:t>Filtering,</a:t>
            </a:r>
            <a:r>
              <a:rPr dirty="0" sz="2500" spc="2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Payment</a:t>
            </a:r>
            <a:r>
              <a:rPr dirty="0" sz="2500" spc="19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Integration,</a:t>
            </a:r>
            <a:r>
              <a:rPr dirty="0" sz="2500" spc="30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Feedback</a:t>
            </a:r>
            <a:r>
              <a:rPr dirty="0" sz="2500" spc="19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&amp;</a:t>
            </a:r>
            <a:r>
              <a:rPr dirty="0" sz="2500" spc="54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Review, </a:t>
            </a:r>
            <a:r>
              <a:rPr dirty="0" sz="2500">
                <a:latin typeface="Cambria"/>
                <a:cs typeface="Cambria"/>
              </a:rPr>
              <a:t>Notification,</a:t>
            </a:r>
            <a:r>
              <a:rPr dirty="0" sz="2500" spc="31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1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Responsive</a:t>
            </a:r>
            <a:r>
              <a:rPr dirty="0" sz="2500" spc="220">
                <a:latin typeface="Cambria"/>
                <a:cs typeface="Cambria"/>
              </a:rPr>
              <a:t> </a:t>
            </a:r>
            <a:r>
              <a:rPr dirty="0" sz="2500" spc="135">
                <a:latin typeface="Cambria"/>
                <a:cs typeface="Cambria"/>
              </a:rPr>
              <a:t>UI</a:t>
            </a:r>
            <a:r>
              <a:rPr dirty="0" sz="2500" spc="51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Modules.</a:t>
            </a:r>
            <a:endParaRPr sz="25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25" y="3068321"/>
            <a:ext cx="104775" cy="1047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25" y="4757421"/>
            <a:ext cx="104775" cy="1047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pc="-405"/>
              <a:t>T</a:t>
            </a:r>
            <a:r>
              <a:rPr dirty="0" spc="55"/>
              <a:t>ec</a:t>
            </a:r>
            <a:r>
              <a:rPr dirty="0" spc="75"/>
              <a:t>hno</a:t>
            </a:r>
            <a:r>
              <a:rPr dirty="0" spc="70"/>
              <a:t>l</a:t>
            </a:r>
            <a:r>
              <a:rPr dirty="0" spc="75"/>
              <a:t>o</a:t>
            </a:r>
            <a:r>
              <a:rPr dirty="0" u="none" spc="75"/>
              <a:t>g</a:t>
            </a:r>
            <a:r>
              <a:rPr dirty="0" u="none" spc="-680"/>
              <a:t>y</a:t>
            </a:r>
            <a:r>
              <a:rPr dirty="0" spc="-240"/>
              <a:t> </a:t>
            </a:r>
            <a:r>
              <a:rPr dirty="0" spc="-10"/>
              <a:t>Stack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499" y="1557569"/>
            <a:ext cx="92542" cy="925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2734438"/>
            <a:ext cx="95250" cy="952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3272" y="4443858"/>
            <a:ext cx="95250" cy="952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3272" y="4940428"/>
            <a:ext cx="95250" cy="952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3272" y="5436998"/>
            <a:ext cx="95250" cy="9524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1873" y="1300378"/>
            <a:ext cx="10598150" cy="428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" marR="5080">
              <a:lnSpc>
                <a:spcPct val="117300"/>
              </a:lnSpc>
              <a:spcBef>
                <a:spcPts val="100"/>
              </a:spcBef>
            </a:pPr>
            <a:r>
              <a:rPr dirty="0" sz="2250">
                <a:latin typeface="Cambria"/>
                <a:cs typeface="Cambria"/>
              </a:rPr>
              <a:t>Eduverse</a:t>
            </a:r>
            <a:r>
              <a:rPr dirty="0" sz="2250" spc="80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uses</a:t>
            </a:r>
            <a:r>
              <a:rPr dirty="0" sz="2250" spc="105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a</a:t>
            </a:r>
            <a:r>
              <a:rPr dirty="0" sz="2250" spc="135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modern</a:t>
            </a:r>
            <a:r>
              <a:rPr dirty="0" sz="2250" spc="105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and</a:t>
            </a:r>
            <a:r>
              <a:rPr dirty="0" sz="2250" spc="130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robust</a:t>
            </a:r>
            <a:r>
              <a:rPr dirty="0" sz="2250" spc="100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technology</a:t>
            </a:r>
            <a:r>
              <a:rPr dirty="0" sz="2250" spc="100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stack</a:t>
            </a:r>
            <a:r>
              <a:rPr dirty="0" sz="2250" spc="175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to</a:t>
            </a:r>
            <a:r>
              <a:rPr dirty="0" sz="2250" spc="105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ensure</a:t>
            </a:r>
            <a:r>
              <a:rPr dirty="0" sz="2250" spc="95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smooth</a:t>
            </a:r>
            <a:r>
              <a:rPr dirty="0" sz="2250" spc="114">
                <a:latin typeface="Cambria"/>
                <a:cs typeface="Cambria"/>
              </a:rPr>
              <a:t> </a:t>
            </a:r>
            <a:r>
              <a:rPr dirty="0" sz="2250" spc="-10">
                <a:latin typeface="Cambria"/>
                <a:cs typeface="Cambria"/>
              </a:rPr>
              <a:t>performance, </a:t>
            </a:r>
            <a:r>
              <a:rPr dirty="0" sz="2250">
                <a:latin typeface="Cambria"/>
                <a:cs typeface="Cambria"/>
              </a:rPr>
              <a:t>scalability,and</a:t>
            </a:r>
            <a:r>
              <a:rPr dirty="0" sz="2250" spc="235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user-friendly</a:t>
            </a:r>
            <a:r>
              <a:rPr dirty="0" sz="2250" spc="229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experience.The</a:t>
            </a:r>
            <a:r>
              <a:rPr dirty="0" sz="2250" spc="260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frontend</a:t>
            </a:r>
            <a:r>
              <a:rPr dirty="0" sz="2250" spc="229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is</a:t>
            </a:r>
            <a:r>
              <a:rPr dirty="0" sz="2250" spc="305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built</a:t>
            </a:r>
            <a:r>
              <a:rPr dirty="0" sz="2250" spc="254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with</a:t>
            </a:r>
            <a:r>
              <a:rPr dirty="0" sz="2250" spc="229">
                <a:latin typeface="Cambria"/>
                <a:cs typeface="Cambria"/>
              </a:rPr>
              <a:t> </a:t>
            </a:r>
            <a:r>
              <a:rPr dirty="0" sz="2250" spc="40">
                <a:latin typeface="Cambria"/>
                <a:cs typeface="Cambria"/>
              </a:rPr>
              <a:t>React.js</a:t>
            </a:r>
            <a:endParaRPr sz="22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2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317875" algn="l"/>
              </a:tabLst>
            </a:pPr>
            <a:r>
              <a:rPr dirty="0" sz="2200">
                <a:latin typeface="Cambria"/>
                <a:cs typeface="Cambria"/>
              </a:rPr>
              <a:t>The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backend</a:t>
            </a:r>
            <a:r>
              <a:rPr dirty="0" sz="2200" spc="9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uses</a:t>
            </a:r>
            <a:r>
              <a:rPr dirty="0" sz="2200" spc="85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Node.js</a:t>
            </a:r>
            <a:r>
              <a:rPr dirty="0" sz="2200">
                <a:latin typeface="Cambria"/>
                <a:cs typeface="Cambria"/>
              </a:rPr>
              <a:t>	to</a:t>
            </a:r>
            <a:r>
              <a:rPr dirty="0" sz="2200" spc="3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handle</a:t>
            </a:r>
            <a:r>
              <a:rPr dirty="0" sz="2200" spc="45">
                <a:latin typeface="Cambria"/>
                <a:cs typeface="Cambria"/>
              </a:rPr>
              <a:t> </a:t>
            </a:r>
            <a:r>
              <a:rPr dirty="0" sz="2200" spc="110">
                <a:latin typeface="Cambria"/>
                <a:cs typeface="Cambria"/>
              </a:rPr>
              <a:t>APIs,</a:t>
            </a:r>
            <a:r>
              <a:rPr dirty="0" sz="2200" spc="18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authentication,</a:t>
            </a:r>
            <a:r>
              <a:rPr dirty="0" sz="2200" spc="7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and</a:t>
            </a:r>
            <a:r>
              <a:rPr dirty="0" sz="2200" spc="4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business</a:t>
            </a:r>
            <a:r>
              <a:rPr dirty="0" sz="2200" spc="45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logic.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200">
                <a:latin typeface="Cambria"/>
                <a:cs typeface="Cambria"/>
              </a:rPr>
              <a:t>The</a:t>
            </a:r>
            <a:r>
              <a:rPr dirty="0" sz="2200" spc="6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database</a:t>
            </a:r>
            <a:r>
              <a:rPr dirty="0" sz="2200" spc="3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uses</a:t>
            </a:r>
            <a:r>
              <a:rPr dirty="0" sz="2200" spc="2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My</a:t>
            </a:r>
            <a:r>
              <a:rPr dirty="0" sz="2200" spc="130">
                <a:latin typeface="Cambria"/>
                <a:cs typeface="Cambria"/>
              </a:rPr>
              <a:t> </a:t>
            </a:r>
            <a:r>
              <a:rPr dirty="0" sz="2200" spc="145">
                <a:latin typeface="Cambria"/>
                <a:cs typeface="Cambria"/>
              </a:rPr>
              <a:t>SQL</a:t>
            </a:r>
            <a:r>
              <a:rPr dirty="0" sz="2200" spc="21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for</a:t>
            </a:r>
            <a:r>
              <a:rPr dirty="0" sz="2200" spc="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secure</a:t>
            </a:r>
            <a:r>
              <a:rPr dirty="0" sz="2200" spc="2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and</a:t>
            </a:r>
            <a:r>
              <a:rPr dirty="0" sz="2200" spc="1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efficient</a:t>
            </a:r>
            <a:r>
              <a:rPr dirty="0" sz="2200" spc="2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data</a:t>
            </a:r>
            <a:r>
              <a:rPr dirty="0" sz="2200" spc="30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storage.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2200">
              <a:latin typeface="Cambria"/>
              <a:cs typeface="Cambria"/>
            </a:endParaRPr>
          </a:p>
          <a:p>
            <a:pPr marL="2088514" marR="6158865">
              <a:lnSpc>
                <a:spcPct val="148000"/>
              </a:lnSpc>
            </a:pPr>
            <a:r>
              <a:rPr dirty="0" sz="2200">
                <a:latin typeface="Cambria"/>
                <a:cs typeface="Cambria"/>
              </a:rPr>
              <a:t>Frontend:</a:t>
            </a:r>
            <a:r>
              <a:rPr dirty="0" sz="2200" spc="45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React.js </a:t>
            </a:r>
            <a:r>
              <a:rPr dirty="0" sz="2200">
                <a:latin typeface="Cambria"/>
                <a:cs typeface="Cambria"/>
              </a:rPr>
              <a:t>Backend:</a:t>
            </a:r>
            <a:r>
              <a:rPr dirty="0" sz="2200" spc="210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Node.js </a:t>
            </a:r>
            <a:r>
              <a:rPr dirty="0" sz="2200">
                <a:latin typeface="Cambria"/>
                <a:cs typeface="Cambria"/>
              </a:rPr>
              <a:t>Database:</a:t>
            </a:r>
            <a:r>
              <a:rPr dirty="0" sz="2200" spc="114">
                <a:latin typeface="Cambria"/>
                <a:cs typeface="Cambria"/>
              </a:rPr>
              <a:t> </a:t>
            </a:r>
            <a:r>
              <a:rPr dirty="0" sz="2200" spc="130">
                <a:latin typeface="Cambria"/>
                <a:cs typeface="Cambria"/>
              </a:rPr>
              <a:t>MySQL</a:t>
            </a:r>
            <a:r>
              <a:rPr dirty="0" sz="2200" spc="275">
                <a:latin typeface="Cambria"/>
                <a:cs typeface="Cambria"/>
              </a:rPr>
              <a:t> </a:t>
            </a:r>
            <a:r>
              <a:rPr dirty="0" sz="2200" spc="-50">
                <a:latin typeface="Cambria"/>
                <a:cs typeface="Cambria"/>
              </a:rPr>
              <a:t>.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3477134"/>
            <a:ext cx="95250" cy="952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8831" y="-69088"/>
            <a:ext cx="3848100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ER</a:t>
            </a:r>
            <a:r>
              <a:rPr dirty="0" spc="-10"/>
              <a:t> Diagrams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389" y="771523"/>
            <a:ext cx="11916410" cy="60864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/>
              <a:t>UseCase</a:t>
            </a:r>
            <a:r>
              <a:rPr dirty="0" spc="-175"/>
              <a:t> </a:t>
            </a:r>
            <a:r>
              <a:rPr dirty="0" spc="-10"/>
              <a:t>Diagrams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809" y="1088896"/>
            <a:ext cx="11885803" cy="569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Work</a:t>
            </a:r>
            <a:r>
              <a:rPr dirty="0" spc="-190"/>
              <a:t> </a:t>
            </a:r>
            <a:r>
              <a:rPr dirty="0"/>
              <a:t>Flow</a:t>
            </a:r>
            <a:r>
              <a:rPr dirty="0" spc="-165"/>
              <a:t> </a:t>
            </a:r>
            <a:r>
              <a:rPr dirty="0"/>
              <a:t>/</a:t>
            </a:r>
            <a:r>
              <a:rPr dirty="0" spc="-185"/>
              <a:t> </a:t>
            </a:r>
            <a:r>
              <a:rPr dirty="0"/>
              <a:t>Data</a:t>
            </a:r>
            <a:r>
              <a:rPr dirty="0" spc="-165"/>
              <a:t> </a:t>
            </a:r>
            <a:r>
              <a:rPr dirty="0" spc="-2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836" y="1081722"/>
            <a:ext cx="10521238" cy="5572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8401" y="214502"/>
            <a:ext cx="7515225" cy="32099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154" y="3574986"/>
            <a:ext cx="6762750" cy="315277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02309" y="1814322"/>
            <a:ext cx="2347595" cy="1095375"/>
          </a:xfrm>
          <a:prstGeom prst="rect"/>
        </p:spPr>
        <p:txBody>
          <a:bodyPr wrap="square" lIns="0" tIns="90170" rIns="0" bIns="0" rtlCol="0" vert="horz">
            <a:spAutoFit/>
          </a:bodyPr>
          <a:lstStyle/>
          <a:p>
            <a:pPr algn="ctr" marR="31115">
              <a:lnSpc>
                <a:spcPct val="100000"/>
              </a:lnSpc>
              <a:spcBef>
                <a:spcPts val="710"/>
              </a:spcBef>
            </a:pPr>
            <a:r>
              <a:rPr dirty="0" u="none" sz="3000" spc="-10" i="1">
                <a:latin typeface="Arial"/>
                <a:cs typeface="Arial"/>
              </a:rPr>
              <a:t>Student’s</a:t>
            </a:r>
            <a:endParaRPr sz="3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u="none" sz="3000" spc="45" i="1">
                <a:latin typeface="Arial"/>
                <a:cs typeface="Arial"/>
              </a:rPr>
              <a:t>Dashboard:-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714" y="116586"/>
            <a:ext cx="6715125" cy="32480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03164" y="3429000"/>
            <a:ext cx="6515100" cy="324802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151878" y="1503375"/>
            <a:ext cx="3174365" cy="42290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2600" spc="-25" i="1">
                <a:latin typeface="Arial"/>
                <a:cs typeface="Arial"/>
              </a:rPr>
              <a:t>Admin’s</a:t>
            </a:r>
            <a:r>
              <a:rPr dirty="0" u="none" sz="2600" spc="-130" i="1">
                <a:latin typeface="Arial"/>
                <a:cs typeface="Arial"/>
              </a:rPr>
              <a:t> </a:t>
            </a:r>
            <a:r>
              <a:rPr dirty="0" u="none" sz="2600" spc="-10" i="1">
                <a:latin typeface="Arial"/>
                <a:cs typeface="Arial"/>
              </a:rPr>
              <a:t>Dashboard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3218" y="4488281"/>
            <a:ext cx="2851785" cy="93726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2600" spc="-10" b="1" i="1">
                <a:solidFill>
                  <a:srgbClr val="0049AC"/>
                </a:solidFill>
                <a:latin typeface="Arial"/>
                <a:cs typeface="Arial"/>
              </a:rPr>
              <a:t>Mentor/Teacher’s</a:t>
            </a:r>
            <a:endParaRPr sz="2600">
              <a:latin typeface="Arial"/>
              <a:cs typeface="Arial"/>
            </a:endParaRPr>
          </a:p>
          <a:p>
            <a:pPr marL="434340">
              <a:lnSpc>
                <a:spcPct val="100000"/>
              </a:lnSpc>
              <a:spcBef>
                <a:spcPts val="470"/>
              </a:spcBef>
            </a:pPr>
            <a:r>
              <a:rPr dirty="0" sz="2600" spc="-10" b="1" i="1">
                <a:solidFill>
                  <a:srgbClr val="0049AC"/>
                </a:solidFill>
                <a:latin typeface="Arial"/>
                <a:cs typeface="Arial"/>
              </a:rPr>
              <a:t>Dashboard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230" y="117855"/>
            <a:ext cx="6962775" cy="3314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2892" y="3546853"/>
            <a:ext cx="6962775" cy="33111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44918" y="1511884"/>
            <a:ext cx="153352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 i="1">
                <a:solidFill>
                  <a:srgbClr val="0049AC"/>
                </a:solidFill>
                <a:latin typeface="Arial"/>
                <a:cs typeface="Arial"/>
              </a:rPr>
              <a:t>Courses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1945" y="4941519"/>
            <a:ext cx="221932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 i="1">
                <a:solidFill>
                  <a:srgbClr val="0049AC"/>
                </a:solidFill>
                <a:latin typeface="Arial"/>
                <a:cs typeface="Arial"/>
              </a:rPr>
              <a:t>Books</a:t>
            </a:r>
            <a:r>
              <a:rPr dirty="0" sz="3000" spc="-210" b="1" i="1">
                <a:solidFill>
                  <a:srgbClr val="0049AC"/>
                </a:solidFill>
                <a:latin typeface="Arial"/>
                <a:cs typeface="Arial"/>
              </a:rPr>
              <a:t> </a:t>
            </a:r>
            <a:r>
              <a:rPr dirty="0" sz="3000" spc="-20" b="1" i="1">
                <a:solidFill>
                  <a:srgbClr val="0049AC"/>
                </a:solidFill>
                <a:latin typeface="Arial"/>
                <a:cs typeface="Arial"/>
              </a:rPr>
              <a:t>Shop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2313" y="44018"/>
            <a:ext cx="8399145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dirty="0" spc="-150"/>
              <a:t> </a:t>
            </a:r>
            <a:r>
              <a:rPr dirty="0"/>
              <a:t>Scope</a:t>
            </a:r>
            <a:r>
              <a:rPr dirty="0" spc="-160"/>
              <a:t> </a:t>
            </a:r>
            <a:r>
              <a:rPr dirty="0"/>
              <a:t>/</a:t>
            </a:r>
            <a:r>
              <a:rPr dirty="0" spc="-150"/>
              <a:t> </a:t>
            </a:r>
            <a:r>
              <a:rPr dirty="0" spc="-10"/>
              <a:t>Enhancements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073" y="1593089"/>
            <a:ext cx="104775" cy="1047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9352" y="1407922"/>
            <a:ext cx="10443845" cy="4445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95"/>
              </a:spcBef>
            </a:pPr>
            <a:r>
              <a:rPr dirty="0" sz="2500" spc="100">
                <a:latin typeface="Cambria"/>
                <a:cs typeface="Cambria"/>
              </a:rPr>
              <a:t>AI</a:t>
            </a:r>
            <a:r>
              <a:rPr dirty="0" sz="2500" spc="2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Tutor:</a:t>
            </a:r>
            <a:r>
              <a:rPr dirty="0" sz="2500" spc="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Personalized</a:t>
            </a:r>
            <a:r>
              <a:rPr dirty="0" sz="2500" spc="11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guidance</a:t>
            </a:r>
            <a:r>
              <a:rPr dirty="0" sz="2500" spc="8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&amp;</a:t>
            </a:r>
            <a:r>
              <a:rPr dirty="0" sz="2500" spc="390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real-</a:t>
            </a:r>
            <a:r>
              <a:rPr dirty="0" sz="2500">
                <a:latin typeface="Cambria"/>
                <a:cs typeface="Cambria"/>
              </a:rPr>
              <a:t>time</a:t>
            </a:r>
            <a:r>
              <a:rPr dirty="0" sz="2500" spc="9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doubt</a:t>
            </a:r>
            <a:r>
              <a:rPr dirty="0" sz="2500" spc="70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resolution.</a:t>
            </a:r>
            <a:endParaRPr sz="2500">
              <a:latin typeface="Cambria"/>
              <a:cs typeface="Cambria"/>
            </a:endParaRPr>
          </a:p>
          <a:p>
            <a:pPr marL="12700" marR="1692910" indent="74295">
              <a:lnSpc>
                <a:spcPct val="115199"/>
              </a:lnSpc>
              <a:spcBef>
                <a:spcPts val="2895"/>
              </a:spcBef>
            </a:pPr>
            <a:r>
              <a:rPr dirty="0" sz="2500">
                <a:latin typeface="Cambria"/>
                <a:cs typeface="Cambria"/>
              </a:rPr>
              <a:t>Advanced</a:t>
            </a:r>
            <a:r>
              <a:rPr dirty="0" sz="2500" spc="155">
                <a:latin typeface="Cambria"/>
                <a:cs typeface="Cambria"/>
              </a:rPr>
              <a:t> </a:t>
            </a:r>
            <a:r>
              <a:rPr dirty="0" sz="2500" spc="45">
                <a:latin typeface="Cambria"/>
                <a:cs typeface="Cambria"/>
              </a:rPr>
              <a:t>Analytics:</a:t>
            </a:r>
            <a:r>
              <a:rPr dirty="0" sz="2500" spc="25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Track</a:t>
            </a:r>
            <a:r>
              <a:rPr dirty="0" sz="2500" spc="14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student</a:t>
            </a:r>
            <a:r>
              <a:rPr dirty="0" sz="2500" spc="17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progress,</a:t>
            </a:r>
            <a:r>
              <a:rPr dirty="0" sz="2500" spc="1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engagement,</a:t>
            </a:r>
            <a:r>
              <a:rPr dirty="0" sz="2500" spc="175">
                <a:latin typeface="Cambria"/>
                <a:cs typeface="Cambria"/>
              </a:rPr>
              <a:t> </a:t>
            </a:r>
            <a:r>
              <a:rPr dirty="0" sz="2500" spc="-25">
                <a:latin typeface="Cambria"/>
                <a:cs typeface="Cambria"/>
              </a:rPr>
              <a:t>and </a:t>
            </a:r>
            <a:r>
              <a:rPr dirty="0" sz="2500">
                <a:latin typeface="Cambria"/>
                <a:cs typeface="Cambria"/>
              </a:rPr>
              <a:t>learning</a:t>
            </a:r>
            <a:r>
              <a:rPr dirty="0" sz="2500" spc="30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patterns</a:t>
            </a:r>
            <a:endParaRPr sz="2500">
              <a:latin typeface="Cambria"/>
              <a:cs typeface="Cambria"/>
            </a:endParaRPr>
          </a:p>
          <a:p>
            <a:pPr marL="139065" marR="1094740" indent="-53340">
              <a:lnSpc>
                <a:spcPct val="114900"/>
              </a:lnSpc>
              <a:spcBef>
                <a:spcPts val="2300"/>
              </a:spcBef>
            </a:pPr>
            <a:r>
              <a:rPr dirty="0" sz="2500">
                <a:latin typeface="Cambria"/>
                <a:cs typeface="Cambria"/>
              </a:rPr>
              <a:t>Intelligent</a:t>
            </a:r>
            <a:r>
              <a:rPr dirty="0" sz="2500" spc="23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Chatbots:</a:t>
            </a:r>
            <a:r>
              <a:rPr dirty="0" sz="2500" spc="13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Instant</a:t>
            </a:r>
            <a:r>
              <a:rPr dirty="0" sz="2500" spc="19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support</a:t>
            </a:r>
            <a:r>
              <a:rPr dirty="0" sz="2500" spc="114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for</a:t>
            </a:r>
            <a:r>
              <a:rPr dirty="0" sz="2500" spc="114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queries,</a:t>
            </a:r>
            <a:r>
              <a:rPr dirty="0" sz="2500" spc="135">
                <a:latin typeface="Cambria"/>
                <a:cs typeface="Cambria"/>
              </a:rPr>
              <a:t> </a:t>
            </a:r>
            <a:r>
              <a:rPr dirty="0" sz="2500" spc="110">
                <a:latin typeface="Cambria"/>
                <a:cs typeface="Cambria"/>
              </a:rPr>
              <a:t>FAQs,</a:t>
            </a:r>
            <a:r>
              <a:rPr dirty="0" sz="2500" spc="31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114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course navigation.</a:t>
            </a:r>
            <a:endParaRPr sz="2500">
              <a:latin typeface="Cambria"/>
              <a:cs typeface="Cambria"/>
            </a:endParaRPr>
          </a:p>
          <a:p>
            <a:pPr marL="86995" marR="5080">
              <a:lnSpc>
                <a:spcPts val="6709"/>
              </a:lnSpc>
              <a:spcBef>
                <a:spcPts val="30"/>
              </a:spcBef>
            </a:pPr>
            <a:r>
              <a:rPr dirty="0" sz="2500">
                <a:latin typeface="Cambria"/>
                <a:cs typeface="Cambria"/>
              </a:rPr>
              <a:t>Payment</a:t>
            </a:r>
            <a:r>
              <a:rPr dirty="0" sz="2500" spc="9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Integration:</a:t>
            </a:r>
            <a:r>
              <a:rPr dirty="0" sz="2500" spc="12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Secure</a:t>
            </a:r>
            <a:r>
              <a:rPr dirty="0" sz="2500" spc="80">
                <a:latin typeface="Cambria"/>
                <a:cs typeface="Cambria"/>
              </a:rPr>
              <a:t> </a:t>
            </a:r>
            <a:r>
              <a:rPr dirty="0" sz="2500" spc="85">
                <a:latin typeface="Cambria"/>
                <a:cs typeface="Cambria"/>
              </a:rPr>
              <a:t>in-</a:t>
            </a:r>
            <a:r>
              <a:rPr dirty="0" sz="2500">
                <a:latin typeface="Cambria"/>
                <a:cs typeface="Cambria"/>
              </a:rPr>
              <a:t>app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payments</a:t>
            </a:r>
            <a:r>
              <a:rPr dirty="0" sz="2500" spc="8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for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courses</a:t>
            </a:r>
            <a:r>
              <a:rPr dirty="0" sz="2500" spc="8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&amp;</a:t>
            </a:r>
            <a:r>
              <a:rPr dirty="0" sz="2500" spc="395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e-</a:t>
            </a:r>
            <a:r>
              <a:rPr dirty="0" sz="2500" spc="-10">
                <a:latin typeface="Cambria"/>
                <a:cs typeface="Cambria"/>
              </a:rPr>
              <a:t>books. </a:t>
            </a:r>
            <a:r>
              <a:rPr dirty="0" sz="2500">
                <a:latin typeface="Cambria"/>
                <a:cs typeface="Cambria"/>
              </a:rPr>
              <a:t>Gamification</a:t>
            </a:r>
            <a:r>
              <a:rPr dirty="0" sz="2500" spc="10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&amp;</a:t>
            </a:r>
            <a:r>
              <a:rPr dirty="0" sz="2500" spc="409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Rewards:</a:t>
            </a:r>
            <a:r>
              <a:rPr dirty="0" sz="2500" spc="95">
                <a:latin typeface="Cambria"/>
                <a:cs typeface="Cambria"/>
              </a:rPr>
              <a:t> </a:t>
            </a:r>
            <a:r>
              <a:rPr dirty="0" sz="2500" spc="45">
                <a:latin typeface="Cambria"/>
                <a:cs typeface="Cambria"/>
              </a:rPr>
              <a:t>Badges,</a:t>
            </a:r>
            <a:r>
              <a:rPr dirty="0" sz="2500" spc="14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leaderboards,</a:t>
            </a:r>
            <a:r>
              <a:rPr dirty="0" sz="2500" spc="10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5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achievement</a:t>
            </a:r>
            <a:r>
              <a:rPr dirty="0" sz="2500" spc="9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tracking.</a:t>
            </a:r>
            <a:endParaRPr sz="25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073" y="2432813"/>
            <a:ext cx="104775" cy="1047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073" y="3604388"/>
            <a:ext cx="104775" cy="1047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073" y="4775963"/>
            <a:ext cx="104775" cy="10477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073" y="5617363"/>
            <a:ext cx="104775" cy="1047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736" y="213436"/>
            <a:ext cx="3093720" cy="8178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References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6408" y="2084960"/>
            <a:ext cx="123825" cy="12382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655" marR="600710">
              <a:lnSpc>
                <a:spcPct val="115199"/>
              </a:lnSpc>
              <a:spcBef>
                <a:spcPts val="100"/>
              </a:spcBef>
            </a:pPr>
            <a:r>
              <a:rPr dirty="0"/>
              <a:t>YouTube:</a:t>
            </a:r>
            <a:r>
              <a:rPr dirty="0" spc="140"/>
              <a:t> </a:t>
            </a:r>
            <a:r>
              <a:rPr dirty="0"/>
              <a:t>For</a:t>
            </a:r>
            <a:r>
              <a:rPr dirty="0" spc="229"/>
              <a:t> </a:t>
            </a:r>
            <a:r>
              <a:rPr dirty="0"/>
              <a:t>practical</a:t>
            </a:r>
            <a:r>
              <a:rPr dirty="0" spc="145"/>
              <a:t> </a:t>
            </a:r>
            <a:r>
              <a:rPr dirty="0"/>
              <a:t>tutorials</a:t>
            </a:r>
            <a:r>
              <a:rPr dirty="0" spc="150"/>
              <a:t> </a:t>
            </a:r>
            <a:r>
              <a:rPr dirty="0"/>
              <a:t>and</a:t>
            </a:r>
            <a:r>
              <a:rPr dirty="0" spc="125"/>
              <a:t> </a:t>
            </a:r>
            <a:r>
              <a:rPr dirty="0" spc="-10"/>
              <a:t>implementation guidance.</a:t>
            </a:r>
          </a:p>
          <a:p>
            <a:pPr marL="57785" marR="972819">
              <a:lnSpc>
                <a:spcPct val="115199"/>
              </a:lnSpc>
              <a:spcBef>
                <a:spcPts val="2290"/>
              </a:spcBef>
            </a:pPr>
            <a:r>
              <a:rPr dirty="0"/>
              <a:t>Google:</a:t>
            </a:r>
            <a:r>
              <a:rPr dirty="0" spc="130"/>
              <a:t> </a:t>
            </a:r>
            <a:r>
              <a:rPr dirty="0"/>
              <a:t>For</a:t>
            </a:r>
            <a:r>
              <a:rPr dirty="0" spc="130"/>
              <a:t> </a:t>
            </a:r>
            <a:r>
              <a:rPr dirty="0"/>
              <a:t>exploring</a:t>
            </a:r>
            <a:r>
              <a:rPr dirty="0" spc="30"/>
              <a:t> </a:t>
            </a:r>
            <a:r>
              <a:rPr dirty="0"/>
              <a:t>development</a:t>
            </a:r>
            <a:r>
              <a:rPr dirty="0" spc="60"/>
              <a:t> </a:t>
            </a:r>
            <a:r>
              <a:rPr dirty="0" spc="-10"/>
              <a:t>references</a:t>
            </a:r>
            <a:r>
              <a:rPr dirty="0" spc="30"/>
              <a:t> </a:t>
            </a:r>
            <a:r>
              <a:rPr dirty="0" spc="-25"/>
              <a:t>and </a:t>
            </a:r>
            <a:r>
              <a:rPr dirty="0" spc="-10"/>
              <a:t>troubleshooting.</a:t>
            </a:r>
          </a:p>
          <a:p>
            <a:pPr marL="12700" marR="5080">
              <a:lnSpc>
                <a:spcPct val="114999"/>
              </a:lnSpc>
              <a:spcBef>
                <a:spcPts val="2815"/>
              </a:spcBef>
              <a:tabLst>
                <a:tab pos="9145270" algn="l"/>
              </a:tabLst>
            </a:pPr>
            <a:r>
              <a:rPr dirty="0" sz="3000"/>
              <a:t>Official</a:t>
            </a:r>
            <a:r>
              <a:rPr dirty="0" sz="3000" spc="285"/>
              <a:t> </a:t>
            </a:r>
            <a:r>
              <a:rPr dirty="0" sz="3000"/>
              <a:t>Documentations:</a:t>
            </a:r>
            <a:r>
              <a:rPr dirty="0" sz="3000" spc="140"/>
              <a:t> </a:t>
            </a:r>
            <a:r>
              <a:rPr dirty="0" sz="3000" spc="70"/>
              <a:t>React,</a:t>
            </a:r>
            <a:r>
              <a:rPr dirty="0" sz="3000" spc="290"/>
              <a:t> </a:t>
            </a:r>
            <a:r>
              <a:rPr dirty="0" sz="3000" spc="55"/>
              <a:t>Node.js</a:t>
            </a:r>
            <a:r>
              <a:rPr dirty="0" sz="3000" spc="240"/>
              <a:t> </a:t>
            </a:r>
            <a:r>
              <a:rPr dirty="0" sz="3000"/>
              <a:t>and</a:t>
            </a:r>
            <a:r>
              <a:rPr dirty="0" sz="3000" spc="140"/>
              <a:t> </a:t>
            </a:r>
            <a:r>
              <a:rPr dirty="0" sz="3000" spc="55"/>
              <a:t>My</a:t>
            </a:r>
            <a:r>
              <a:rPr dirty="0" sz="3000" spc="310"/>
              <a:t> </a:t>
            </a:r>
            <a:r>
              <a:rPr dirty="0" sz="3000" spc="170"/>
              <a:t>SQL,</a:t>
            </a:r>
            <a:r>
              <a:rPr dirty="0" sz="3000"/>
              <a:t>	</a:t>
            </a:r>
            <a:r>
              <a:rPr dirty="0" sz="3000" spc="-30"/>
              <a:t>for </a:t>
            </a:r>
            <a:r>
              <a:rPr dirty="0" sz="3000"/>
              <a:t>accurate</a:t>
            </a:r>
            <a:r>
              <a:rPr dirty="0" sz="3000" spc="210"/>
              <a:t> </a:t>
            </a:r>
            <a:r>
              <a:rPr dirty="0" sz="3000"/>
              <a:t>technical</a:t>
            </a:r>
            <a:r>
              <a:rPr dirty="0" sz="3000" spc="260"/>
              <a:t> </a:t>
            </a:r>
            <a:r>
              <a:rPr dirty="0" sz="3000" spc="-10"/>
              <a:t>implementation.</a:t>
            </a:r>
            <a:endParaRPr sz="30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1680" y="3457830"/>
            <a:ext cx="123825" cy="12382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7358" y="4868801"/>
            <a:ext cx="123823" cy="1238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6860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175" y="1563879"/>
            <a:ext cx="95250" cy="952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4850" y="1292098"/>
            <a:ext cx="11496040" cy="5399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92455">
              <a:lnSpc>
                <a:spcPct val="114999"/>
              </a:lnSpc>
              <a:spcBef>
                <a:spcPts val="100"/>
              </a:spcBef>
            </a:pPr>
            <a:r>
              <a:rPr dirty="0" sz="2400">
                <a:latin typeface="Cambria"/>
                <a:cs typeface="Cambria"/>
              </a:rPr>
              <a:t>Complete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Learning</a:t>
            </a:r>
            <a:r>
              <a:rPr dirty="0" sz="2400" spc="1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Ecosystem: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Eduverse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integrates</a:t>
            </a:r>
            <a:r>
              <a:rPr dirty="0" sz="2400" spc="7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e-</a:t>
            </a:r>
            <a:r>
              <a:rPr dirty="0" sz="2400">
                <a:latin typeface="Cambria"/>
                <a:cs typeface="Cambria"/>
              </a:rPr>
              <a:t>books,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courses,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quizzes,</a:t>
            </a:r>
            <a:r>
              <a:rPr dirty="0" sz="2400" spc="85">
                <a:latin typeface="Cambria"/>
                <a:cs typeface="Cambria"/>
              </a:rPr>
              <a:t> </a:t>
            </a:r>
            <a:r>
              <a:rPr dirty="0" sz="2400" spc="-25">
                <a:latin typeface="Cambria"/>
                <a:cs typeface="Cambria"/>
              </a:rPr>
              <a:t>and </a:t>
            </a:r>
            <a:r>
              <a:rPr dirty="0" sz="2400">
                <a:latin typeface="Cambria"/>
                <a:cs typeface="Cambria"/>
              </a:rPr>
              <a:t>interactive</a:t>
            </a:r>
            <a:r>
              <a:rPr dirty="0" sz="2400" spc="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tools</a:t>
            </a:r>
            <a:r>
              <a:rPr dirty="0" sz="2400" spc="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</a:t>
            </a:r>
            <a:r>
              <a:rPr dirty="0" sz="2400" spc="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single</a:t>
            </a:r>
            <a:r>
              <a:rPr dirty="0" sz="2400" spc="6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platform</a:t>
            </a:r>
            <a:r>
              <a:rPr dirty="0" sz="2400" spc="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for</a:t>
            </a:r>
            <a:r>
              <a:rPr dirty="0" sz="2400" spc="6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</a:t>
            </a:r>
            <a:r>
              <a:rPr dirty="0" sz="2400" spc="7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seamless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learning</a:t>
            </a:r>
            <a:r>
              <a:rPr dirty="0" sz="2400" spc="6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experience.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dirty="0" sz="2400">
                <a:latin typeface="Cambria"/>
                <a:cs typeface="Cambria"/>
              </a:rPr>
              <a:t>Enhanced</a:t>
            </a:r>
            <a:r>
              <a:rPr dirty="0" sz="2400" spc="204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User</a:t>
            </a:r>
            <a:r>
              <a:rPr dirty="0" sz="2400" spc="22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Engagement:</a:t>
            </a:r>
            <a:r>
              <a:rPr dirty="0" sz="2400" spc="24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Personalized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dashboards,</a:t>
            </a:r>
            <a:r>
              <a:rPr dirty="0" sz="2400" spc="1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progress</a:t>
            </a:r>
            <a:r>
              <a:rPr dirty="0" sz="2400" spc="150">
                <a:latin typeface="Cambria"/>
                <a:cs typeface="Cambria"/>
              </a:rPr>
              <a:t> </a:t>
            </a:r>
            <a:r>
              <a:rPr dirty="0" sz="2400" spc="55">
                <a:latin typeface="Cambria"/>
                <a:cs typeface="Cambria"/>
              </a:rPr>
              <a:t>tracking,</a:t>
            </a:r>
            <a:r>
              <a:rPr dirty="0" sz="2400" spc="204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bookmarks,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8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highlights</a:t>
            </a:r>
            <a:r>
              <a:rPr dirty="0" sz="2400" spc="1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make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learning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interactive</a:t>
            </a:r>
            <a:r>
              <a:rPr dirty="0" sz="2400" spc="7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8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motivating.</a:t>
            </a:r>
            <a:endParaRPr sz="2400">
              <a:latin typeface="Cambria"/>
              <a:cs typeface="Cambria"/>
            </a:endParaRPr>
          </a:p>
          <a:p>
            <a:pPr marL="33655" marR="739140">
              <a:lnSpc>
                <a:spcPct val="114799"/>
              </a:lnSpc>
              <a:spcBef>
                <a:spcPts val="1200"/>
              </a:spcBef>
            </a:pPr>
            <a:r>
              <a:rPr dirty="0" sz="2500">
                <a:latin typeface="Cambria"/>
                <a:cs typeface="Cambria"/>
              </a:rPr>
              <a:t>Accessibility</a:t>
            </a:r>
            <a:r>
              <a:rPr dirty="0" sz="2500" spc="21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&amp;</a:t>
            </a:r>
            <a:r>
              <a:rPr dirty="0" sz="2500" spc="4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Convenience:</a:t>
            </a:r>
            <a:r>
              <a:rPr dirty="0" sz="2500" spc="15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Responsive</a:t>
            </a:r>
            <a:r>
              <a:rPr dirty="0" sz="2500" spc="13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design</a:t>
            </a:r>
            <a:r>
              <a:rPr dirty="0" sz="2500" spc="13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ensures</a:t>
            </a:r>
            <a:r>
              <a:rPr dirty="0" sz="2500" spc="114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smooth</a:t>
            </a:r>
            <a:r>
              <a:rPr dirty="0" sz="2500" spc="11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usage</a:t>
            </a:r>
            <a:r>
              <a:rPr dirty="0" sz="2500" spc="8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across </a:t>
            </a:r>
            <a:r>
              <a:rPr dirty="0" sz="2500">
                <a:latin typeface="Cambria"/>
                <a:cs typeface="Cambria"/>
              </a:rPr>
              <a:t>desktop,</a:t>
            </a:r>
            <a:r>
              <a:rPr dirty="0" sz="2500" spc="15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tablet,</a:t>
            </a:r>
            <a:r>
              <a:rPr dirty="0" sz="2500" spc="1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15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mobile,</a:t>
            </a:r>
            <a:r>
              <a:rPr dirty="0" sz="2500" spc="13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allowing</a:t>
            </a:r>
            <a:r>
              <a:rPr dirty="0" sz="2500" spc="1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learning</a:t>
            </a:r>
            <a:r>
              <a:rPr dirty="0" sz="2500" spc="16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anytime,</a:t>
            </a:r>
            <a:r>
              <a:rPr dirty="0" sz="2500" spc="17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anywhere.</a:t>
            </a:r>
            <a:endParaRPr sz="2500">
              <a:latin typeface="Cambria"/>
              <a:cs typeface="Cambria"/>
            </a:endParaRPr>
          </a:p>
          <a:p>
            <a:pPr marL="12700" marR="314325">
              <a:lnSpc>
                <a:spcPct val="114999"/>
              </a:lnSpc>
              <a:spcBef>
                <a:spcPts val="1420"/>
              </a:spcBef>
            </a:pPr>
            <a:r>
              <a:rPr dirty="0" sz="2400">
                <a:latin typeface="Cambria"/>
                <a:cs typeface="Cambria"/>
              </a:rPr>
              <a:t>Designed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for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All</a:t>
            </a:r>
            <a:r>
              <a:rPr dirty="0" sz="2400" spc="25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Learners:</a:t>
            </a:r>
            <a:r>
              <a:rPr dirty="0" sz="2400" spc="13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Supports</a:t>
            </a:r>
            <a:r>
              <a:rPr dirty="0" sz="2400" spc="14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students,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instructors,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13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lifelong</a:t>
            </a:r>
            <a:r>
              <a:rPr dirty="0" sz="2400" spc="12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learners</a:t>
            </a:r>
            <a:r>
              <a:rPr dirty="0" sz="2400" spc="125">
                <a:latin typeface="Cambria"/>
                <a:cs typeface="Cambria"/>
              </a:rPr>
              <a:t> </a:t>
            </a:r>
            <a:r>
              <a:rPr dirty="0" sz="2400" spc="-20">
                <a:latin typeface="Cambria"/>
                <a:cs typeface="Cambria"/>
              </a:rPr>
              <a:t>with </a:t>
            </a:r>
            <a:r>
              <a:rPr dirty="0" sz="2400">
                <a:latin typeface="Cambria"/>
                <a:cs typeface="Cambria"/>
              </a:rPr>
              <a:t>collaborative</a:t>
            </a:r>
            <a:r>
              <a:rPr dirty="0" sz="2400" spc="-3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features</a:t>
            </a:r>
            <a:r>
              <a:rPr dirty="0" sz="2400" spc="-4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like</a:t>
            </a:r>
            <a:r>
              <a:rPr dirty="0" sz="2400" spc="-4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forums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and</a:t>
            </a:r>
            <a:r>
              <a:rPr dirty="0" sz="2400" spc="-4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peer</a:t>
            </a:r>
            <a:r>
              <a:rPr dirty="0" sz="2400" spc="-50">
                <a:latin typeface="Cambria"/>
                <a:cs typeface="Cambria"/>
              </a:rPr>
              <a:t> </a:t>
            </a:r>
            <a:r>
              <a:rPr dirty="0" sz="2400" spc="-10">
                <a:latin typeface="Cambria"/>
                <a:cs typeface="Cambria"/>
              </a:rPr>
              <a:t>discussions.</a:t>
            </a:r>
            <a:endParaRPr sz="2400">
              <a:latin typeface="Cambria"/>
              <a:cs typeface="Cambria"/>
            </a:endParaRPr>
          </a:p>
          <a:p>
            <a:pPr marL="33655" marR="620395">
              <a:lnSpc>
                <a:spcPct val="114999"/>
              </a:lnSpc>
              <a:spcBef>
                <a:spcPts val="1285"/>
              </a:spcBef>
            </a:pPr>
            <a:r>
              <a:rPr dirty="0" sz="2500">
                <a:latin typeface="Cambria"/>
                <a:cs typeface="Cambria"/>
              </a:rPr>
              <a:t>Future-Ready</a:t>
            </a:r>
            <a:r>
              <a:rPr dirty="0" sz="2500" spc="2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&amp;</a:t>
            </a:r>
            <a:r>
              <a:rPr dirty="0" sz="2500" spc="52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Scalable:</a:t>
            </a:r>
            <a:r>
              <a:rPr dirty="0" sz="2500" spc="235">
                <a:latin typeface="Cambria"/>
                <a:cs typeface="Cambria"/>
              </a:rPr>
              <a:t> </a:t>
            </a:r>
            <a:r>
              <a:rPr dirty="0" sz="2500" spc="50">
                <a:latin typeface="Cambria"/>
                <a:cs typeface="Cambria"/>
              </a:rPr>
              <a:t>Plans</a:t>
            </a:r>
            <a:r>
              <a:rPr dirty="0" sz="2500" spc="24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for</a:t>
            </a:r>
            <a:r>
              <a:rPr dirty="0" sz="2500" spc="130">
                <a:latin typeface="Cambria"/>
                <a:cs typeface="Cambria"/>
              </a:rPr>
              <a:t> </a:t>
            </a:r>
            <a:r>
              <a:rPr dirty="0" sz="2500" spc="100">
                <a:latin typeface="Cambria"/>
                <a:cs typeface="Cambria"/>
              </a:rPr>
              <a:t>AI</a:t>
            </a:r>
            <a:r>
              <a:rPr dirty="0" sz="2500" spc="37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tutors,</a:t>
            </a:r>
            <a:r>
              <a:rPr dirty="0" sz="2500" spc="14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advanced</a:t>
            </a:r>
            <a:r>
              <a:rPr dirty="0" sz="2500" spc="14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analytics,</a:t>
            </a:r>
            <a:r>
              <a:rPr dirty="0" sz="2500" spc="250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intelligent </a:t>
            </a:r>
            <a:r>
              <a:rPr dirty="0" sz="2500">
                <a:latin typeface="Cambria"/>
                <a:cs typeface="Cambria"/>
              </a:rPr>
              <a:t>chatbots,</a:t>
            </a:r>
            <a:r>
              <a:rPr dirty="0" sz="2500" spc="11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payment</a:t>
            </a:r>
            <a:r>
              <a:rPr dirty="0" sz="2500" spc="114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integration,</a:t>
            </a:r>
            <a:r>
              <a:rPr dirty="0" sz="2500" spc="15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and</a:t>
            </a:r>
            <a:r>
              <a:rPr dirty="0" sz="2500" spc="10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gamification</a:t>
            </a:r>
            <a:r>
              <a:rPr dirty="0" sz="2500" spc="135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make</a:t>
            </a:r>
            <a:r>
              <a:rPr dirty="0" sz="2500" spc="114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Eduverse</a:t>
            </a:r>
            <a:r>
              <a:rPr dirty="0" sz="2500" spc="11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adaptable</a:t>
            </a:r>
            <a:r>
              <a:rPr dirty="0" sz="2500" spc="110">
                <a:latin typeface="Cambria"/>
                <a:cs typeface="Cambria"/>
              </a:rPr>
              <a:t> </a:t>
            </a:r>
            <a:r>
              <a:rPr dirty="0" sz="2500" spc="-25">
                <a:latin typeface="Cambria"/>
                <a:cs typeface="Cambria"/>
              </a:rPr>
              <a:t>and </a:t>
            </a:r>
            <a:r>
              <a:rPr dirty="0" sz="2500" spc="-10">
                <a:latin typeface="Cambria"/>
                <a:cs typeface="Cambria"/>
              </a:rPr>
              <a:t>innovative.</a:t>
            </a:r>
            <a:endParaRPr sz="25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175" y="2566925"/>
            <a:ext cx="95250" cy="952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6225" y="3568701"/>
            <a:ext cx="104775" cy="1047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175" y="4611371"/>
            <a:ext cx="95250" cy="952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6225" y="5615941"/>
            <a:ext cx="104775" cy="1047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Himansusingh9441</dc:creator>
  <cp:keywords>DAHMqy9JXbo,BAGfj8wIUMg,0</cp:keywords>
  <dc:title>Copy of project.pdf</dc:title>
  <dcterms:created xsi:type="dcterms:W3CDTF">2026-07-13T06:06:09Z</dcterms:created>
  <dcterms:modified xsi:type="dcterms:W3CDTF">2026-07-13T06:06:09Z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2026-07-13T00:00:00Z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2026-07-13T00:00:00Z</vt:filetime>
  </property>
  <property fmtid="{D5CDD505-2E9C-101B-9397-08002B2CF9AE}" pid="6" name="Producer">
    <vt:lpwstr>Microsoft® PowerPoint® 2024</vt:lpwstr>
  </property>
</Properties>
</file>